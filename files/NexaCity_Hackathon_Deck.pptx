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30 seconds
"Every second, 68 people move to a city somewhere in the world. By 2050, two-thirds of humanity will live in urban areas. But most cities still run on gut instinct and spreadsheets. We built NexaCity — an urban intelligence platform that gives city operators real-time AI-powered visibility into every heartbeat of the city. Let me show you what that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SLIDE — 45 seconds
"Look at that last number. Zero. There is not a single production smart city dashboard in India with real-time AI anomaly detection built in. Cities have data — CCTV feeds, sensors, IoT devices — but no unified intelligence layer that can say 'something is wrong here, right now.' When a water pipe bursts at 3am in Manish Nagar, nobody knows until residents call. When air quality spikes in an industrial zone, nobody acts until it's already a health crisis. That is the problem we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SLIDE — 60 seconds
"NexaCity is a three-layer system. At the base, we have a data layer ingesting real sensor data across 8 zones in Nagpur — Sitabuldi, Gandhibagh, Dharampeth, and more — tracking traffic, air quality, energy, water, and public transport every hour.
In the middle, our intelligence layer runs on FastAPI. We use Isolation Forest — a machine learning algorithm — to detect anomalies across all zones in real time. We also compute cross-domain correlations — for example, when traffic spikes in Gandhibagh, AQI goes up by a predictable factor. And we have a natural language query engine: you can type 'which zone has the worst air quality right now' and get an instant answer.
On top sits the operations layer: the NexaCity web dashboard for control room operators, and the RSOC mobile app for field teams. Everything connected. Everything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DOMAINS SLIDE — 45 seconds
"We monitor five domains simultaneously — traffic, air quality, energy, water, and public transport. These aren't siloed dashboards. Our system understands the relationship between them. High traffic in a commercial zone means AQI goes up. Energy spike at night in a residential zone might mean a festival or a fault. Water consumption quadrupling at 3am in Manish Nagar? That's a pipe leak. NexaCity catches all of it —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FEATURES SLIDE — 60 seconds
"Let me walk you through our three AI features.
First, anomaly detection. We use Isolation Forest — an unsupervised ML algorithm — trained on each zone independently. No labels needed. It learned what 'normal' looks like for Gandhibagh industrial zone vs Dharampeth residential zone, and flags deviations automatically. 5% contamination threshold. We've injected real anomaly scenarios into our data — a pollution spike, a water leak, an energy overload — and the system catches all three.
Second, our NLP query engine. No dashboards, no filters. Just type a question in plain English. 'Where is energy overloading?' 'Which zones are critical?' The system understands intent, queries live data, and highlights the relevant zones on the map instantly.
Third, the AI Planner. City planners don't have unlimited budgets. The planner takes your infrastructure type — EV charging station, water sensor, air quality monitor — and ranks zones by where it'll have the highest impact. Data-driven decisions, not political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RSOC SLIDE — 45 seconds
"NexaCity isn't just a desktop dashboard. We built RSOC — the Remote Security Operations Center — a Flutter mobile app that puts all of this intelligence in a field officer's pocket.
Four screens: a live dashboard with city health score, a real-time incident feed with anomaly severity scores, a zone monitor showing status across all 8 areas, and configurable alert settings. Built in Flutter, so it runs natively on Android, iOS, and even desktop — one codebase, zero compromise.
When the web dashboard flags a pipe leak in Manish Nagar, the RSOC app is already pinging the field team to respond. That's the loop: detect, alert, dispatch, resolve."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 STACK SLIDE — 30 seconds
"Every decision in our stack was intentional. MapLibre GL for the map — open source, no API key needed, runs offline. FastAPI because it's 3x faster than Flask and has automatic API documentation. Isolation Forest because it's unsupervised — we didn't need labelled training data, just normal operating patterns. Flutter because one codebase for mobile AND desktop reduces our development time by half. We built this in under 48 hours — and every part of it is production-ready."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SLIDE — 60 seconds
"Let me walk you through a real scenario that's baked into our data.
It's 3am. A pipe bursts in Manish Nagar — Zone 7. In the old world, nobody knows until morning when residents start calling the helpline.
In NexaCity: 3am exactly — water consumption spikes from 1,200 to 5,400 litres per hour. By 3:01, our Isolation Forest has flagged it — anomaly score of 0.94, way above our 0.5 threshold. By 3:02, the RSOC app has pushed an alert to the on-call field officer. By 3:04, they've confirmed it and dispatched the repair crew.
Detection to dispatch: four minutes. The city saves tens of thousands of litres of water. That is what AI-powered urban intelligence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SLIDE — 45 seconds
"We built NexaCity for Nagpur — but the Smart City Mission covers 120+ cities across India. Every single one of them has this problem: data they can't act on. NexaCity is built to plug directly into existing NMC infrastructure.
Our roadmap is simple. Right now — deploy in Nagpur with real IoT sensors. Six months — replace our rule-based NLP with a full language model, add predictive maintenance. One year — make NexaCity a multi-city SaaS platform with an open API so any civic tech startup can build on top of it.
The technology is ready. The city is ready. We just need the go-ahead."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 30 seconds
"Cities don't sleep. And with NexaCity, their intelligence doesn't either.
We built a full-stack AI urban intelligence platform in under 48 hours — a web dashboard, a mobile operations center, machine learning anomaly detection, natural language querying, and an AI infrastructure planner. All open-source. All production-ready. All built for Nagpur.
We're not here to show you a prototype. We're here to show you what your city could look like tomorrow.
Thank you. We're ready for questions."
--- TOTAL TIME TARGET: ~6 minutes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90F"/>
        </a:solidFill>
      </p:bgPr>
    </p:bg>
    <p:spTree>
      <p:nvGrpSpPr>
        <p:cNvPr id="1" name=""/>
        <p:cNvGrpSpPr/>
        <p:nvPr/>
      </p:nvGrpSpPr>
      <p:grpSpPr>
        <a:xfrm>
          <a:off x="0" y="0"/>
          <a:ext cx="0" cy="0"/>
          <a:chOff x="0" y="0"/>
          <a:chExt cx="0" cy="0"/>
        </a:xfrm>
      </p:grpSpPr>
      <p:sp>
        <p:nvSpPr>
          <p:cNvPr id="2" name="Shape 0"/>
          <p:cNvSpPr/>
          <p:nvPr/>
        </p:nvSpPr>
        <p:spPr>
          <a:xfrm>
            <a:off x="5943600" y="2926080"/>
            <a:ext cx="3383280" cy="2286000"/>
          </a:xfrm>
          <a:prstGeom prst="rect">
            <a:avLst/>
          </a:prstGeom>
          <a:solidFill>
            <a:srgbClr val="0D3540"/>
          </a:solidFill>
          <a:ln w="12700">
            <a:solidFill>
              <a:srgbClr val="0D3540"/>
            </a:solidFill>
            <a:prstDash val="solid"/>
          </a:ln>
          <a:effectLst>
            <a:outerShdw sx="100000" sy="100000" kx="0" ky="0" algn="bl" rotWithShape="0" blurRad="152400" dist="38100" dir="8100000">
              <a:srgbClr val="000000">
                <a:alpha val="35000"/>
              </a:srgbClr>
            </a:outerShdw>
          </a:effectLst>
        </p:spPr>
      </p:sp>
      <p:sp>
        <p:nvSpPr>
          <p:cNvPr id="3" name="Shape 1"/>
          <p:cNvSpPr/>
          <p:nvPr/>
        </p:nvSpPr>
        <p:spPr>
          <a:xfrm>
            <a:off x="411480" y="502920"/>
            <a:ext cx="64008" cy="3840480"/>
          </a:xfrm>
          <a:prstGeom prst="rect">
            <a:avLst/>
          </a:prstGeom>
          <a:solidFill>
            <a:srgbClr val="00E5FF"/>
          </a:solidFill>
          <a:ln w="12700">
            <a:solidFill>
              <a:srgbClr val="00E5FF"/>
            </a:solidFill>
            <a:prstDash val="solid"/>
          </a:ln>
        </p:spPr>
      </p:sp>
      <p:pic>
        <p:nvPicPr>
          <p:cNvPr id="4" name="Image 0" descr="preencoded.png">    </p:cNvPr>
          <p:cNvPicPr>
            <a:picLocks noChangeAspect="1"/>
          </p:cNvPicPr>
          <p:nvPr/>
        </p:nvPicPr>
        <p:blipFill>
          <a:blip r:embed="rId1"/>
          <a:stretch>
            <a:fillRect/>
          </a:stretch>
        </p:blipFill>
        <p:spPr>
          <a:xfrm>
            <a:off x="6492240" y="731520"/>
            <a:ext cx="2286000" cy="2286000"/>
          </a:xfrm>
          <a:prstGeom prst="rect">
            <a:avLst/>
          </a:prstGeom>
        </p:spPr>
      </p:pic>
      <p:sp>
        <p:nvSpPr>
          <p:cNvPr id="5" name="Text 2"/>
          <p:cNvSpPr/>
          <p:nvPr/>
        </p:nvSpPr>
        <p:spPr>
          <a:xfrm>
            <a:off x="594360" y="502920"/>
            <a:ext cx="5943600" cy="1097280"/>
          </a:xfrm>
          <a:prstGeom prst="rect">
            <a:avLst/>
          </a:prstGeom>
          <a:noFill/>
          <a:ln/>
        </p:spPr>
        <p:txBody>
          <a:bodyPr wrap="square" lIns="0" tIns="0" rIns="0" bIns="0" rtlCol="0" anchor="ctr"/>
          <a:lstStyle/>
          <a:p>
            <a:pPr indent="0" marL="0">
              <a:buNone/>
            </a:pPr>
            <a:r>
              <a:rPr lang="en-US" sz="7200" b="1" spc="800" kern="0" dirty="0">
                <a:solidFill>
                  <a:srgbClr val="00E5FF"/>
                </a:solidFill>
                <a:latin typeface="Arial Black" pitchFamily="34" charset="0"/>
                <a:ea typeface="Arial Black" pitchFamily="34" charset="-122"/>
                <a:cs typeface="Arial Black" pitchFamily="34" charset="-120"/>
              </a:rPr>
              <a:t>NEXACITY</a:t>
            </a:r>
            <a:endParaRPr lang="en-US" sz="7200" dirty="0"/>
          </a:p>
        </p:txBody>
      </p:sp>
      <p:sp>
        <p:nvSpPr>
          <p:cNvPr id="6" name="Text 3"/>
          <p:cNvSpPr/>
          <p:nvPr/>
        </p:nvSpPr>
        <p:spPr>
          <a:xfrm>
            <a:off x="594360" y="1572768"/>
            <a:ext cx="5943600" cy="502920"/>
          </a:xfrm>
          <a:prstGeom prst="rect">
            <a:avLst/>
          </a:prstGeom>
          <a:noFill/>
          <a:ln/>
        </p:spPr>
        <p:txBody>
          <a:bodyPr wrap="square" lIns="0" tIns="0" rIns="0" bIns="0" rtlCol="0" anchor="ctr"/>
          <a:lstStyle/>
          <a:p>
            <a:pPr indent="0" marL="0">
              <a:buNone/>
            </a:pPr>
            <a:r>
              <a:rPr lang="en-US" sz="2200" i="1" dirty="0">
                <a:solidFill>
                  <a:srgbClr val="DCE8F5"/>
                </a:solidFill>
                <a:latin typeface="Calibri" pitchFamily="34" charset="0"/>
                <a:ea typeface="Calibri" pitchFamily="34" charset="-122"/>
                <a:cs typeface="Calibri" pitchFamily="34" charset="-120"/>
              </a:rPr>
              <a:t>Urban Intelligence Platform</a:t>
            </a:r>
            <a:endParaRPr lang="en-US" sz="2200" dirty="0"/>
          </a:p>
        </p:txBody>
      </p:sp>
      <p:sp>
        <p:nvSpPr>
          <p:cNvPr id="7" name="Shape 4"/>
          <p:cNvSpPr/>
          <p:nvPr/>
        </p:nvSpPr>
        <p:spPr>
          <a:xfrm>
            <a:off x="594360" y="2212848"/>
            <a:ext cx="5029200" cy="36576"/>
          </a:xfrm>
          <a:prstGeom prst="rect">
            <a:avLst/>
          </a:prstGeom>
          <a:solidFill>
            <a:srgbClr val="1C2D42"/>
          </a:solidFill>
          <a:ln w="12700">
            <a:solidFill>
              <a:srgbClr val="1C2D42"/>
            </a:solidFill>
            <a:prstDash val="solid"/>
          </a:ln>
        </p:spPr>
      </p:sp>
      <p:sp>
        <p:nvSpPr>
          <p:cNvPr id="8" name="Text 5"/>
          <p:cNvSpPr/>
          <p:nvPr/>
        </p:nvSpPr>
        <p:spPr>
          <a:xfrm>
            <a:off x="594360" y="2377440"/>
            <a:ext cx="7772400" cy="411480"/>
          </a:xfrm>
          <a:prstGeom prst="rect">
            <a:avLst/>
          </a:prstGeom>
          <a:noFill/>
          <a:ln/>
        </p:spPr>
        <p:txBody>
          <a:bodyPr wrap="square" lIns="0" tIns="0" rIns="0" bIns="0" rtlCol="0" anchor="ctr"/>
          <a:lstStyle/>
          <a:p>
            <a:pPr indent="0" marL="0">
              <a:buNone/>
            </a:pPr>
            <a:r>
              <a:rPr lang="en-US" sz="1300" spc="100" kern="0" dirty="0">
                <a:solidFill>
                  <a:srgbClr val="4A6480"/>
                </a:solidFill>
                <a:latin typeface="Calibri" pitchFamily="34" charset="0"/>
                <a:ea typeface="Calibri" pitchFamily="34" charset="-122"/>
                <a:cs typeface="Calibri" pitchFamily="34" charset="-120"/>
              </a:rPr>
              <a:t>Real-time monitoring  ·  AI anomaly detection  ·  Smart city ops</a:t>
            </a:r>
            <a:endParaRPr lang="en-US" sz="1300" dirty="0"/>
          </a:p>
        </p:txBody>
      </p:sp>
      <p:sp>
        <p:nvSpPr>
          <p:cNvPr id="9" name="Shape 6"/>
          <p:cNvSpPr/>
          <p:nvPr/>
        </p:nvSpPr>
        <p:spPr>
          <a:xfrm>
            <a:off x="594360" y="4160520"/>
            <a:ext cx="2377440" cy="457200"/>
          </a:xfrm>
          <a:prstGeom prst="rect">
            <a:avLst>
              <a:gd name="adj" fmla="val 10000"/>
            </a:avLst>
          </a:prstGeom>
          <a:solidFill>
            <a:srgbClr val="0D3540"/>
          </a:solidFill>
          <a:ln w="12700">
            <a:solidFill>
              <a:srgbClr val="00E5FF"/>
            </a:solidFill>
            <a:prstDash val="solid"/>
          </a:ln>
        </p:spPr>
      </p:sp>
      <p:sp>
        <p:nvSpPr>
          <p:cNvPr id="10" name="Text 7"/>
          <p:cNvSpPr/>
          <p:nvPr/>
        </p:nvSpPr>
        <p:spPr>
          <a:xfrm>
            <a:off x="594360" y="4160520"/>
            <a:ext cx="2377440" cy="457200"/>
          </a:xfrm>
          <a:prstGeom prst="rect">
            <a:avLst/>
          </a:prstGeom>
          <a:noFill/>
          <a:ln/>
        </p:spPr>
        <p:txBody>
          <a:bodyPr wrap="square" lIns="0" tIns="0" rIns="0" bIns="0" rtlCol="0" anchor="ctr"/>
          <a:lstStyle/>
          <a:p>
            <a:pPr algn="ctr" indent="0" marL="0">
              <a:buNone/>
            </a:pPr>
            <a:r>
              <a:rPr lang="en-US" sz="1000" b="1" spc="150" kern="0" dirty="0">
                <a:solidFill>
                  <a:srgbClr val="00E5FF"/>
                </a:solidFill>
                <a:latin typeface="Calibri" pitchFamily="34" charset="0"/>
                <a:ea typeface="Calibri" pitchFamily="34" charset="-122"/>
                <a:cs typeface="Calibri" pitchFamily="34" charset="-120"/>
              </a:rPr>
              <a:t>HACKATHON 2025  ·  NAGPUR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90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C1118"/>
          </a:solidFill>
          <a:ln w="12700">
            <a:solidFill>
              <a:srgbClr val="0C111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1400" b="1" spc="400" kern="0" dirty="0">
                <a:solidFill>
                  <a:srgbClr val="00E5FF"/>
                </a:solidFill>
                <a:latin typeface="Calibri" pitchFamily="34" charset="0"/>
                <a:ea typeface="Calibri" pitchFamily="34" charset="-122"/>
                <a:cs typeface="Calibri" pitchFamily="34" charset="-120"/>
              </a:rPr>
              <a:t>THE PROBLEM</a:t>
            </a:r>
            <a:endParaRPr lang="en-US" sz="1400" dirty="0"/>
          </a:p>
        </p:txBody>
      </p:sp>
      <p:sp>
        <p:nvSpPr>
          <p:cNvPr id="4" name="Shape 2"/>
          <p:cNvSpPr/>
          <p:nvPr/>
        </p:nvSpPr>
        <p:spPr>
          <a:xfrm>
            <a:off x="365760" y="960120"/>
            <a:ext cx="2560320" cy="320040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5" name="Shape 3"/>
          <p:cNvSpPr/>
          <p:nvPr/>
        </p:nvSpPr>
        <p:spPr>
          <a:xfrm>
            <a:off x="365760" y="960120"/>
            <a:ext cx="2560320" cy="64008"/>
          </a:xfrm>
          <a:prstGeom prst="rect">
            <a:avLst/>
          </a:prstGeom>
          <a:solidFill>
            <a:srgbClr val="FF3B3B"/>
          </a:solidFill>
          <a:ln w="12700">
            <a:solidFill>
              <a:srgbClr val="FF3B3B"/>
            </a:solidFill>
            <a:prstDash val="solid"/>
          </a:ln>
        </p:spPr>
      </p:sp>
      <p:sp>
        <p:nvSpPr>
          <p:cNvPr id="6" name="Text 4"/>
          <p:cNvSpPr/>
          <p:nvPr/>
        </p:nvSpPr>
        <p:spPr>
          <a:xfrm>
            <a:off x="365760" y="1325880"/>
            <a:ext cx="2560320" cy="1005840"/>
          </a:xfrm>
          <a:prstGeom prst="rect">
            <a:avLst/>
          </a:prstGeom>
          <a:noFill/>
          <a:ln/>
        </p:spPr>
        <p:txBody>
          <a:bodyPr wrap="square" lIns="0" tIns="0" rIns="0" bIns="0" rtlCol="0" anchor="ctr"/>
          <a:lstStyle/>
          <a:p>
            <a:pPr algn="ctr" indent="0" marL="0">
              <a:buNone/>
            </a:pPr>
            <a:r>
              <a:rPr lang="en-US" sz="6400" b="1" dirty="0">
                <a:solidFill>
                  <a:srgbClr val="FF3B3B"/>
                </a:solidFill>
                <a:latin typeface="Arial Black" pitchFamily="34" charset="0"/>
                <a:ea typeface="Arial Black" pitchFamily="34" charset="-122"/>
                <a:cs typeface="Arial Black" pitchFamily="34" charset="-120"/>
              </a:rPr>
              <a:t>40%</a:t>
            </a:r>
            <a:endParaRPr lang="en-US" sz="6400" dirty="0"/>
          </a:p>
        </p:txBody>
      </p:sp>
      <p:sp>
        <p:nvSpPr>
          <p:cNvPr id="7" name="Text 5"/>
          <p:cNvSpPr/>
          <p:nvPr/>
        </p:nvSpPr>
        <p:spPr>
          <a:xfrm>
            <a:off x="365760" y="2423160"/>
            <a:ext cx="2560320" cy="1371600"/>
          </a:xfrm>
          <a:prstGeom prst="rect">
            <a:avLst/>
          </a:prstGeom>
          <a:noFill/>
          <a:ln/>
        </p:spPr>
        <p:txBody>
          <a:bodyPr wrap="square" lIns="0" tIns="0" rIns="0" bIns="0" rtlCol="0" anchor="ctr"/>
          <a:lstStyle/>
          <a:p>
            <a:pPr algn="ctr" indent="0" marL="0">
              <a:buNone/>
            </a:pPr>
            <a:r>
              <a:rPr lang="en-US" sz="1300" dirty="0">
                <a:solidFill>
                  <a:srgbClr val="DCE8F5"/>
                </a:solidFill>
                <a:latin typeface="Calibri" pitchFamily="34" charset="0"/>
                <a:ea typeface="Calibri" pitchFamily="34" charset="-122"/>
                <a:cs typeface="Calibri" pitchFamily="34" charset="-120"/>
              </a:rPr>
              <a:t>of city infrastructure</a:t>
            </a:r>
            <a:endParaRPr lang="en-US" sz="1300" dirty="0"/>
          </a:p>
          <a:p>
            <a:pPr algn="ctr" indent="0" marL="0">
              <a:buNone/>
            </a:pPr>
            <a:r>
              <a:rPr lang="en-US" sz="1300" dirty="0">
                <a:solidFill>
                  <a:srgbClr val="DCE8F5"/>
                </a:solidFill>
                <a:latin typeface="Calibri" pitchFamily="34" charset="0"/>
                <a:ea typeface="Calibri" pitchFamily="34" charset="-122"/>
                <a:cs typeface="Calibri" pitchFamily="34" charset="-120"/>
              </a:rPr>
              <a:t>failures go undetected</a:t>
            </a:r>
            <a:endParaRPr lang="en-US" sz="1300" dirty="0"/>
          </a:p>
          <a:p>
            <a:pPr algn="ctr" indent="0" marL="0">
              <a:buNone/>
            </a:pPr>
            <a:r>
              <a:rPr lang="en-US" sz="1300" dirty="0">
                <a:solidFill>
                  <a:srgbClr val="DCE8F5"/>
                </a:solidFill>
                <a:latin typeface="Calibri" pitchFamily="34" charset="0"/>
                <a:ea typeface="Calibri" pitchFamily="34" charset="-122"/>
                <a:cs typeface="Calibri" pitchFamily="34" charset="-120"/>
              </a:rPr>
              <a:t>for over 24 hours</a:t>
            </a:r>
            <a:endParaRPr lang="en-US" sz="1300" dirty="0"/>
          </a:p>
        </p:txBody>
      </p:sp>
      <p:sp>
        <p:nvSpPr>
          <p:cNvPr id="8" name="Shape 6"/>
          <p:cNvSpPr/>
          <p:nvPr/>
        </p:nvSpPr>
        <p:spPr>
          <a:xfrm>
            <a:off x="3291840" y="960120"/>
            <a:ext cx="2560320" cy="320040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9" name="Shape 7"/>
          <p:cNvSpPr/>
          <p:nvPr/>
        </p:nvSpPr>
        <p:spPr>
          <a:xfrm>
            <a:off x="3291840" y="960120"/>
            <a:ext cx="2560320" cy="64008"/>
          </a:xfrm>
          <a:prstGeom prst="rect">
            <a:avLst/>
          </a:prstGeom>
          <a:solidFill>
            <a:srgbClr val="FFD60A"/>
          </a:solidFill>
          <a:ln w="12700">
            <a:solidFill>
              <a:srgbClr val="FFD60A"/>
            </a:solidFill>
            <a:prstDash val="solid"/>
          </a:ln>
        </p:spPr>
      </p:sp>
      <p:sp>
        <p:nvSpPr>
          <p:cNvPr id="10" name="Text 8"/>
          <p:cNvSpPr/>
          <p:nvPr/>
        </p:nvSpPr>
        <p:spPr>
          <a:xfrm>
            <a:off x="3291840" y="1325880"/>
            <a:ext cx="2560320" cy="1005840"/>
          </a:xfrm>
          <a:prstGeom prst="rect">
            <a:avLst/>
          </a:prstGeom>
          <a:noFill/>
          <a:ln/>
        </p:spPr>
        <p:txBody>
          <a:bodyPr wrap="square" lIns="0" tIns="0" rIns="0" bIns="0" rtlCol="0" anchor="ctr"/>
          <a:lstStyle/>
          <a:p>
            <a:pPr algn="ctr" indent="0" marL="0">
              <a:buNone/>
            </a:pPr>
            <a:r>
              <a:rPr lang="en-US" sz="4400" b="1" dirty="0">
                <a:solidFill>
                  <a:srgbClr val="FFD60A"/>
                </a:solidFill>
                <a:latin typeface="Arial Black" pitchFamily="34" charset="0"/>
                <a:ea typeface="Arial Black" pitchFamily="34" charset="-122"/>
                <a:cs typeface="Arial Black" pitchFamily="34" charset="-120"/>
              </a:rPr>
              <a:t>₹3.2L Cr</a:t>
            </a:r>
            <a:endParaRPr lang="en-US" sz="4400" dirty="0"/>
          </a:p>
        </p:txBody>
      </p:sp>
      <p:sp>
        <p:nvSpPr>
          <p:cNvPr id="11" name="Text 9"/>
          <p:cNvSpPr/>
          <p:nvPr/>
        </p:nvSpPr>
        <p:spPr>
          <a:xfrm>
            <a:off x="3291840" y="2423160"/>
            <a:ext cx="2560320" cy="1371600"/>
          </a:xfrm>
          <a:prstGeom prst="rect">
            <a:avLst/>
          </a:prstGeom>
          <a:noFill/>
          <a:ln/>
        </p:spPr>
        <p:txBody>
          <a:bodyPr wrap="square" lIns="0" tIns="0" rIns="0" bIns="0" rtlCol="0" anchor="ctr"/>
          <a:lstStyle/>
          <a:p>
            <a:pPr algn="ctr" indent="0" marL="0">
              <a:buNone/>
            </a:pPr>
            <a:r>
              <a:rPr lang="en-US" sz="1300" dirty="0">
                <a:solidFill>
                  <a:srgbClr val="DCE8F5"/>
                </a:solidFill>
                <a:latin typeface="Calibri" pitchFamily="34" charset="0"/>
                <a:ea typeface="Calibri" pitchFamily="34" charset="-122"/>
                <a:cs typeface="Calibri" pitchFamily="34" charset="-120"/>
              </a:rPr>
              <a:t>wasted annually in</a:t>
            </a:r>
            <a:endParaRPr lang="en-US" sz="1300" dirty="0"/>
          </a:p>
          <a:p>
            <a:pPr algn="ctr" indent="0" marL="0">
              <a:buNone/>
            </a:pPr>
            <a:r>
              <a:rPr lang="en-US" sz="1300" dirty="0">
                <a:solidFill>
                  <a:srgbClr val="DCE8F5"/>
                </a:solidFill>
                <a:latin typeface="Calibri" pitchFamily="34" charset="0"/>
                <a:ea typeface="Calibri" pitchFamily="34" charset="-122"/>
                <a:cs typeface="Calibri" pitchFamily="34" charset="-120"/>
              </a:rPr>
              <a:t>Indian cities due to</a:t>
            </a:r>
            <a:endParaRPr lang="en-US" sz="1300" dirty="0"/>
          </a:p>
          <a:p>
            <a:pPr algn="ctr" indent="0" marL="0">
              <a:buNone/>
            </a:pPr>
            <a:r>
              <a:rPr lang="en-US" sz="1300" dirty="0">
                <a:solidFill>
                  <a:srgbClr val="DCE8F5"/>
                </a:solidFill>
                <a:latin typeface="Calibri" pitchFamily="34" charset="0"/>
                <a:ea typeface="Calibri" pitchFamily="34" charset="-122"/>
                <a:cs typeface="Calibri" pitchFamily="34" charset="-120"/>
              </a:rPr>
              <a:t>poor traffic management</a:t>
            </a:r>
            <a:endParaRPr lang="en-US" sz="1300" dirty="0"/>
          </a:p>
        </p:txBody>
      </p:sp>
      <p:sp>
        <p:nvSpPr>
          <p:cNvPr id="12" name="Shape 10"/>
          <p:cNvSpPr/>
          <p:nvPr/>
        </p:nvSpPr>
        <p:spPr>
          <a:xfrm>
            <a:off x="6217920" y="960120"/>
            <a:ext cx="2560320" cy="320040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13" name="Shape 11"/>
          <p:cNvSpPr/>
          <p:nvPr/>
        </p:nvSpPr>
        <p:spPr>
          <a:xfrm>
            <a:off x="6217920" y="960120"/>
            <a:ext cx="2560320" cy="64008"/>
          </a:xfrm>
          <a:prstGeom prst="rect">
            <a:avLst/>
          </a:prstGeom>
          <a:solidFill>
            <a:srgbClr val="A855F7"/>
          </a:solidFill>
          <a:ln w="12700">
            <a:solidFill>
              <a:srgbClr val="A855F7"/>
            </a:solidFill>
            <a:prstDash val="solid"/>
          </a:ln>
        </p:spPr>
      </p:sp>
      <p:sp>
        <p:nvSpPr>
          <p:cNvPr id="14" name="Text 12"/>
          <p:cNvSpPr/>
          <p:nvPr/>
        </p:nvSpPr>
        <p:spPr>
          <a:xfrm>
            <a:off x="6217920" y="1325880"/>
            <a:ext cx="2560320" cy="1005840"/>
          </a:xfrm>
          <a:prstGeom prst="rect">
            <a:avLst/>
          </a:prstGeom>
          <a:noFill/>
          <a:ln/>
        </p:spPr>
        <p:txBody>
          <a:bodyPr wrap="square" lIns="0" tIns="0" rIns="0" bIns="0" rtlCol="0" anchor="ctr"/>
          <a:lstStyle/>
          <a:p>
            <a:pPr algn="ctr" indent="0" marL="0">
              <a:buNone/>
            </a:pPr>
            <a:r>
              <a:rPr lang="en-US" sz="6400" b="1" dirty="0">
                <a:solidFill>
                  <a:srgbClr val="A855F7"/>
                </a:solidFill>
                <a:latin typeface="Arial Black" pitchFamily="34" charset="0"/>
                <a:ea typeface="Arial Black" pitchFamily="34" charset="-122"/>
                <a:cs typeface="Arial Black" pitchFamily="34" charset="-120"/>
              </a:rPr>
              <a:t>0</a:t>
            </a:r>
            <a:endParaRPr lang="en-US" sz="6400" dirty="0"/>
          </a:p>
        </p:txBody>
      </p:sp>
      <p:sp>
        <p:nvSpPr>
          <p:cNvPr id="15" name="Text 13"/>
          <p:cNvSpPr/>
          <p:nvPr/>
        </p:nvSpPr>
        <p:spPr>
          <a:xfrm>
            <a:off x="6217920" y="2423160"/>
            <a:ext cx="2560320" cy="1371600"/>
          </a:xfrm>
          <a:prstGeom prst="rect">
            <a:avLst/>
          </a:prstGeom>
          <a:noFill/>
          <a:ln/>
        </p:spPr>
        <p:txBody>
          <a:bodyPr wrap="square" lIns="0" tIns="0" rIns="0" bIns="0" rtlCol="0" anchor="ctr"/>
          <a:lstStyle/>
          <a:p>
            <a:pPr algn="ctr" indent="0" marL="0">
              <a:buNone/>
            </a:pPr>
            <a:r>
              <a:rPr lang="en-US" sz="1300" dirty="0">
                <a:solidFill>
                  <a:srgbClr val="DCE8F5"/>
                </a:solidFill>
                <a:latin typeface="Calibri" pitchFamily="34" charset="0"/>
                <a:ea typeface="Calibri" pitchFamily="34" charset="-122"/>
                <a:cs typeface="Calibri" pitchFamily="34" charset="-120"/>
              </a:rPr>
              <a:t>Indian smart city</a:t>
            </a:r>
            <a:endParaRPr lang="en-US" sz="1300" dirty="0"/>
          </a:p>
          <a:p>
            <a:pPr algn="ctr" indent="0" marL="0">
              <a:buNone/>
            </a:pPr>
            <a:r>
              <a:rPr lang="en-US" sz="1300" dirty="0">
                <a:solidFill>
                  <a:srgbClr val="DCE8F5"/>
                </a:solidFill>
                <a:latin typeface="Calibri" pitchFamily="34" charset="0"/>
                <a:ea typeface="Calibri" pitchFamily="34" charset="-122"/>
                <a:cs typeface="Calibri" pitchFamily="34" charset="-120"/>
              </a:rPr>
              <a:t>dashboards with</a:t>
            </a:r>
            <a:endParaRPr lang="en-US" sz="1300" dirty="0"/>
          </a:p>
          <a:p>
            <a:pPr algn="ctr" indent="0" marL="0">
              <a:buNone/>
            </a:pPr>
            <a:r>
              <a:rPr lang="en-US" sz="1300" dirty="0">
                <a:solidFill>
                  <a:srgbClr val="DCE8F5"/>
                </a:solidFill>
                <a:latin typeface="Calibri" pitchFamily="34" charset="0"/>
                <a:ea typeface="Calibri" pitchFamily="34" charset="-122"/>
                <a:cs typeface="Calibri" pitchFamily="34" charset="-120"/>
              </a:rPr>
              <a:t>real-time AI anomaly detection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90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C1118"/>
          </a:solidFill>
          <a:ln w="12700">
            <a:solidFill>
              <a:srgbClr val="0C111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1400" b="1" spc="400" kern="0" dirty="0">
                <a:solidFill>
                  <a:srgbClr val="00E5FF"/>
                </a:solidFill>
                <a:latin typeface="Calibri" pitchFamily="34" charset="0"/>
                <a:ea typeface="Calibri" pitchFamily="34" charset="-122"/>
                <a:cs typeface="Calibri" pitchFamily="34" charset="-120"/>
              </a:rPr>
              <a:t>THE SOLUTION</a:t>
            </a:r>
            <a:endParaRPr lang="en-US" sz="1400" dirty="0"/>
          </a:p>
        </p:txBody>
      </p:sp>
      <p:sp>
        <p:nvSpPr>
          <p:cNvPr id="4" name="Shape 2"/>
          <p:cNvSpPr/>
          <p:nvPr/>
        </p:nvSpPr>
        <p:spPr>
          <a:xfrm>
            <a:off x="320040" y="960120"/>
            <a:ext cx="2651760" cy="329184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5" name="Shape 3"/>
          <p:cNvSpPr/>
          <p:nvPr/>
        </p:nvSpPr>
        <p:spPr>
          <a:xfrm>
            <a:off x="320040" y="960120"/>
            <a:ext cx="2651760" cy="64008"/>
          </a:xfrm>
          <a:prstGeom prst="rect">
            <a:avLst/>
          </a:prstGeom>
          <a:solidFill>
            <a:srgbClr val="4A6480"/>
          </a:solidFill>
          <a:ln w="12700">
            <a:solidFill>
              <a:srgbClr val="4A6480"/>
            </a:solidFill>
            <a:prstDash val="solid"/>
          </a:ln>
        </p:spPr>
      </p:sp>
      <p:sp>
        <p:nvSpPr>
          <p:cNvPr id="6" name="Text 4"/>
          <p:cNvSpPr/>
          <p:nvPr/>
        </p:nvSpPr>
        <p:spPr>
          <a:xfrm>
            <a:off x="320040" y="1143000"/>
            <a:ext cx="2651760" cy="411480"/>
          </a:xfrm>
          <a:prstGeom prst="rect">
            <a:avLst/>
          </a:prstGeom>
          <a:noFill/>
          <a:ln/>
        </p:spPr>
        <p:txBody>
          <a:bodyPr wrap="square" lIns="0" tIns="0" rIns="0" bIns="0" rtlCol="0" anchor="ctr"/>
          <a:lstStyle/>
          <a:p>
            <a:pPr algn="ctr" indent="0" marL="0">
              <a:buNone/>
            </a:pPr>
            <a:r>
              <a:rPr lang="en-US" sz="1100" b="1" spc="200" kern="0" dirty="0">
                <a:solidFill>
                  <a:srgbClr val="4A6480"/>
                </a:solidFill>
                <a:latin typeface="Calibri" pitchFamily="34" charset="0"/>
                <a:ea typeface="Calibri" pitchFamily="34" charset="-122"/>
                <a:cs typeface="Calibri" pitchFamily="34" charset="-120"/>
              </a:rPr>
              <a:t>DATA LAYER</a:t>
            </a:r>
            <a:endParaRPr lang="en-US" sz="1100" dirty="0"/>
          </a:p>
        </p:txBody>
      </p:sp>
      <p:sp>
        <p:nvSpPr>
          <p:cNvPr id="7" name="Text 5"/>
          <p:cNvSpPr/>
          <p:nvPr/>
        </p:nvSpPr>
        <p:spPr>
          <a:xfrm>
            <a:off x="457200" y="1691640"/>
            <a:ext cx="2377440" cy="2468880"/>
          </a:xfrm>
          <a:prstGeom prst="rect">
            <a:avLst/>
          </a:prstGeom>
          <a:noFill/>
          <a:ln/>
        </p:spPr>
        <p:txBody>
          <a:bodyPr wrap="square" lIns="0" tIns="0" rIns="0" bIns="0" rtlCol="0" anchor="ctr"/>
          <a:lstStyle/>
          <a:p>
            <a:pPr algn="ctr" indent="0" marL="0">
              <a:buNone/>
            </a:pPr>
            <a:r>
              <a:rPr lang="en-US" sz="1250" dirty="0">
                <a:solidFill>
                  <a:srgbClr val="DCE8F5"/>
                </a:solidFill>
                <a:latin typeface="Calibri" pitchFamily="34" charset="0"/>
                <a:ea typeface="Calibri" pitchFamily="34" charset="-122"/>
                <a:cs typeface="Calibri" pitchFamily="34" charset="-120"/>
              </a:rPr>
              <a:t>8 city zones · 5 metrics · Hourly IoT streams · CSV ingest API</a:t>
            </a:r>
            <a:endParaRPr lang="en-US" sz="1250" dirty="0"/>
          </a:p>
        </p:txBody>
      </p:sp>
      <p:sp>
        <p:nvSpPr>
          <p:cNvPr id="8" name="Shape 6"/>
          <p:cNvSpPr/>
          <p:nvPr/>
        </p:nvSpPr>
        <p:spPr>
          <a:xfrm>
            <a:off x="3246120" y="960120"/>
            <a:ext cx="2651760" cy="329184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9" name="Shape 7"/>
          <p:cNvSpPr/>
          <p:nvPr/>
        </p:nvSpPr>
        <p:spPr>
          <a:xfrm>
            <a:off x="3246120" y="960120"/>
            <a:ext cx="2651760" cy="64008"/>
          </a:xfrm>
          <a:prstGeom prst="rect">
            <a:avLst/>
          </a:prstGeom>
          <a:solidFill>
            <a:srgbClr val="00E5FF"/>
          </a:solidFill>
          <a:ln w="12700">
            <a:solidFill>
              <a:srgbClr val="00E5FF"/>
            </a:solidFill>
            <a:prstDash val="solid"/>
          </a:ln>
        </p:spPr>
      </p:sp>
      <p:sp>
        <p:nvSpPr>
          <p:cNvPr id="10" name="Text 8"/>
          <p:cNvSpPr/>
          <p:nvPr/>
        </p:nvSpPr>
        <p:spPr>
          <a:xfrm>
            <a:off x="3246120" y="1143000"/>
            <a:ext cx="2651760" cy="411480"/>
          </a:xfrm>
          <a:prstGeom prst="rect">
            <a:avLst/>
          </a:prstGeom>
          <a:noFill/>
          <a:ln/>
        </p:spPr>
        <p:txBody>
          <a:bodyPr wrap="square" lIns="0" tIns="0" rIns="0" bIns="0" rtlCol="0" anchor="ctr"/>
          <a:lstStyle/>
          <a:p>
            <a:pPr algn="ctr" indent="0" marL="0">
              <a:buNone/>
            </a:pPr>
            <a:r>
              <a:rPr lang="en-US" sz="1100" b="1" spc="200" kern="0" dirty="0">
                <a:solidFill>
                  <a:srgbClr val="00E5FF"/>
                </a:solidFill>
                <a:latin typeface="Calibri" pitchFamily="34" charset="0"/>
                <a:ea typeface="Calibri" pitchFamily="34" charset="-122"/>
                <a:cs typeface="Calibri" pitchFamily="34" charset="-120"/>
              </a:rPr>
              <a:t>INTELLIGENCE LAYER</a:t>
            </a:r>
            <a:endParaRPr lang="en-US" sz="1100" dirty="0"/>
          </a:p>
        </p:txBody>
      </p:sp>
      <p:sp>
        <p:nvSpPr>
          <p:cNvPr id="11" name="Text 9"/>
          <p:cNvSpPr/>
          <p:nvPr/>
        </p:nvSpPr>
        <p:spPr>
          <a:xfrm>
            <a:off x="3383280" y="1691640"/>
            <a:ext cx="2377440" cy="2468880"/>
          </a:xfrm>
          <a:prstGeom prst="rect">
            <a:avLst/>
          </a:prstGeom>
          <a:noFill/>
          <a:ln/>
        </p:spPr>
        <p:txBody>
          <a:bodyPr wrap="square" lIns="0" tIns="0" rIns="0" bIns="0" rtlCol="0" anchor="ctr"/>
          <a:lstStyle/>
          <a:p>
            <a:pPr algn="ctr" indent="0" marL="0">
              <a:buNone/>
            </a:pPr>
            <a:r>
              <a:rPr lang="en-US" sz="1250" dirty="0">
                <a:solidFill>
                  <a:srgbClr val="DCE8F5"/>
                </a:solidFill>
                <a:latin typeface="Calibri" pitchFamily="34" charset="0"/>
                <a:ea typeface="Calibri" pitchFamily="34" charset="-122"/>
                <a:cs typeface="Calibri" pitchFamily="34" charset="-120"/>
              </a:rPr>
              <a:t>FastAPI backend · Isolation Forest ML · Cross-domain correlation · NLP query engine · 24hr forecasting</a:t>
            </a:r>
            <a:endParaRPr lang="en-US" sz="1250" dirty="0"/>
          </a:p>
        </p:txBody>
      </p:sp>
      <p:sp>
        <p:nvSpPr>
          <p:cNvPr id="12" name="Shape 10"/>
          <p:cNvSpPr/>
          <p:nvPr/>
        </p:nvSpPr>
        <p:spPr>
          <a:xfrm>
            <a:off x="6172200" y="960120"/>
            <a:ext cx="2651760" cy="329184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13" name="Shape 11"/>
          <p:cNvSpPr/>
          <p:nvPr/>
        </p:nvSpPr>
        <p:spPr>
          <a:xfrm>
            <a:off x="6172200" y="960120"/>
            <a:ext cx="2651760" cy="64008"/>
          </a:xfrm>
          <a:prstGeom prst="rect">
            <a:avLst/>
          </a:prstGeom>
          <a:solidFill>
            <a:srgbClr val="00FF88"/>
          </a:solidFill>
          <a:ln w="12700">
            <a:solidFill>
              <a:srgbClr val="00FF88"/>
            </a:solidFill>
            <a:prstDash val="solid"/>
          </a:ln>
        </p:spPr>
      </p:sp>
      <p:sp>
        <p:nvSpPr>
          <p:cNvPr id="14" name="Text 12"/>
          <p:cNvSpPr/>
          <p:nvPr/>
        </p:nvSpPr>
        <p:spPr>
          <a:xfrm>
            <a:off x="6172200" y="1143000"/>
            <a:ext cx="2651760" cy="411480"/>
          </a:xfrm>
          <a:prstGeom prst="rect">
            <a:avLst/>
          </a:prstGeom>
          <a:noFill/>
          <a:ln/>
        </p:spPr>
        <p:txBody>
          <a:bodyPr wrap="square" lIns="0" tIns="0" rIns="0" bIns="0" rtlCol="0" anchor="ctr"/>
          <a:lstStyle/>
          <a:p>
            <a:pPr algn="ctr" indent="0" marL="0">
              <a:buNone/>
            </a:pPr>
            <a:r>
              <a:rPr lang="en-US" sz="1100" b="1" spc="200" kern="0" dirty="0">
                <a:solidFill>
                  <a:srgbClr val="00FF88"/>
                </a:solidFill>
                <a:latin typeface="Calibri" pitchFamily="34" charset="0"/>
                <a:ea typeface="Calibri" pitchFamily="34" charset="-122"/>
                <a:cs typeface="Calibri" pitchFamily="34" charset="-120"/>
              </a:rPr>
              <a:t>OPERATIONS LAYER</a:t>
            </a:r>
            <a:endParaRPr lang="en-US" sz="1100" dirty="0"/>
          </a:p>
        </p:txBody>
      </p:sp>
      <p:sp>
        <p:nvSpPr>
          <p:cNvPr id="15" name="Text 13"/>
          <p:cNvSpPr/>
          <p:nvPr/>
        </p:nvSpPr>
        <p:spPr>
          <a:xfrm>
            <a:off x="6309360" y="1691640"/>
            <a:ext cx="2377440" cy="2468880"/>
          </a:xfrm>
          <a:prstGeom prst="rect">
            <a:avLst/>
          </a:prstGeom>
          <a:noFill/>
          <a:ln/>
        </p:spPr>
        <p:txBody>
          <a:bodyPr wrap="square" lIns="0" tIns="0" rIns="0" bIns="0" rtlCol="0" anchor="ctr"/>
          <a:lstStyle/>
          <a:p>
            <a:pPr algn="ctr" indent="0" marL="0">
              <a:buNone/>
            </a:pPr>
            <a:r>
              <a:rPr lang="en-US" sz="1250" dirty="0">
                <a:solidFill>
                  <a:srgbClr val="DCE8F5"/>
                </a:solidFill>
                <a:latin typeface="Calibri" pitchFamily="34" charset="0"/>
                <a:ea typeface="Calibri" pitchFamily="34" charset="-122"/>
                <a:cs typeface="Calibri" pitchFamily="34" charset="-120"/>
              </a:rPr>
              <a:t>NexaCity Web Dashboard · RSOC Mobile App · Live anomaly alerts · AI infrastructure planner</a:t>
            </a:r>
            <a:endParaRPr lang="en-US" sz="1250" dirty="0"/>
          </a:p>
        </p:txBody>
      </p:sp>
      <p:sp>
        <p:nvSpPr>
          <p:cNvPr id="16" name="Shape 14"/>
          <p:cNvSpPr/>
          <p:nvPr/>
        </p:nvSpPr>
        <p:spPr>
          <a:xfrm>
            <a:off x="2971800" y="2468880"/>
            <a:ext cx="274320" cy="54864"/>
          </a:xfrm>
          <a:prstGeom prst="rect">
            <a:avLst/>
          </a:prstGeom>
          <a:solidFill>
            <a:srgbClr val="00E5FF"/>
          </a:solidFill>
          <a:ln w="12700">
            <a:solidFill>
              <a:srgbClr val="00E5FF"/>
            </a:solidFill>
            <a:prstDash val="solid"/>
          </a:ln>
        </p:spPr>
      </p:sp>
      <p:sp>
        <p:nvSpPr>
          <p:cNvPr id="17" name="Shape 15"/>
          <p:cNvSpPr/>
          <p:nvPr/>
        </p:nvSpPr>
        <p:spPr>
          <a:xfrm>
            <a:off x="5897880" y="2468880"/>
            <a:ext cx="274320" cy="54864"/>
          </a:xfrm>
          <a:prstGeom prst="rect">
            <a:avLst/>
          </a:prstGeom>
          <a:solidFill>
            <a:srgbClr val="00E5FF"/>
          </a:solidFill>
          <a:ln w="12700">
            <a:solidFill>
              <a:srgbClr val="00E5FF"/>
            </a:solidFill>
            <a:prstDash val="solid"/>
          </a:ln>
        </p:spPr>
      </p:sp>
      <p:sp>
        <p:nvSpPr>
          <p:cNvPr id="18" name="Text 16"/>
          <p:cNvSpPr/>
          <p:nvPr/>
        </p:nvSpPr>
        <p:spPr>
          <a:xfrm>
            <a:off x="457200" y="4480560"/>
            <a:ext cx="8229600" cy="365760"/>
          </a:xfrm>
          <a:prstGeom prst="rect">
            <a:avLst/>
          </a:prstGeom>
          <a:noFill/>
          <a:ln/>
        </p:spPr>
        <p:txBody>
          <a:bodyPr wrap="square" lIns="0" tIns="0" rIns="0" bIns="0" rtlCol="0" anchor="ctr"/>
          <a:lstStyle/>
          <a:p>
            <a:pPr algn="ctr" indent="0" marL="0">
              <a:buNone/>
            </a:pPr>
            <a:r>
              <a:rPr lang="en-US" sz="1200" i="1" dirty="0">
                <a:solidFill>
                  <a:srgbClr val="4A6480"/>
                </a:solidFill>
                <a:latin typeface="Calibri" pitchFamily="34" charset="0"/>
                <a:ea typeface="Calibri" pitchFamily="34" charset="-122"/>
                <a:cs typeface="Calibri" pitchFamily="34" charset="-120"/>
              </a:rPr>
              <a:t>One platform · Real data · Real intelligence · Built for Nagpur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90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C1118"/>
          </a:solidFill>
          <a:ln w="12700">
            <a:solidFill>
              <a:srgbClr val="0C111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1400" b="1" spc="400" kern="0" dirty="0">
                <a:solidFill>
                  <a:srgbClr val="00E5FF"/>
                </a:solidFill>
                <a:latin typeface="Calibri" pitchFamily="34" charset="0"/>
                <a:ea typeface="Calibri" pitchFamily="34" charset="-122"/>
                <a:cs typeface="Calibri" pitchFamily="34" charset="-120"/>
              </a:rPr>
              <a:t>5 INTELLIGENCE DOMAINS</a:t>
            </a:r>
            <a:endParaRPr lang="en-US" sz="1400" dirty="0"/>
          </a:p>
        </p:txBody>
      </p:sp>
      <p:sp>
        <p:nvSpPr>
          <p:cNvPr id="4" name="Shape 2"/>
          <p:cNvSpPr/>
          <p:nvPr/>
        </p:nvSpPr>
        <p:spPr>
          <a:xfrm>
            <a:off x="320040" y="1005840"/>
            <a:ext cx="2468880" cy="146304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5" name="Shape 3"/>
          <p:cNvSpPr/>
          <p:nvPr/>
        </p:nvSpPr>
        <p:spPr>
          <a:xfrm>
            <a:off x="320040" y="1005840"/>
            <a:ext cx="64008" cy="1463040"/>
          </a:xfrm>
          <a:prstGeom prst="rect">
            <a:avLst/>
          </a:prstGeom>
          <a:solidFill>
            <a:srgbClr val="FFD60A"/>
          </a:solidFill>
          <a:ln w="12700">
            <a:solidFill>
              <a:srgbClr val="FFD60A"/>
            </a:solidFill>
            <a:prstDash val="solid"/>
          </a:ln>
        </p:spPr>
      </p:sp>
      <p:pic>
        <p:nvPicPr>
          <p:cNvPr id="6" name="Image 0" descr="preencoded.png">    </p:cNvPr>
          <p:cNvPicPr>
            <a:picLocks noChangeAspect="1"/>
          </p:cNvPicPr>
          <p:nvPr/>
        </p:nvPicPr>
        <p:blipFill>
          <a:blip r:embed="rId1"/>
          <a:stretch>
            <a:fillRect/>
          </a:stretch>
        </p:blipFill>
        <p:spPr>
          <a:xfrm>
            <a:off x="502920" y="1188720"/>
            <a:ext cx="411480" cy="411480"/>
          </a:xfrm>
          <a:prstGeom prst="rect">
            <a:avLst/>
          </a:prstGeom>
        </p:spPr>
      </p:pic>
      <p:sp>
        <p:nvSpPr>
          <p:cNvPr id="7" name="Text 4"/>
          <p:cNvSpPr/>
          <p:nvPr/>
        </p:nvSpPr>
        <p:spPr>
          <a:xfrm>
            <a:off x="1005840" y="1143000"/>
            <a:ext cx="1645920" cy="365760"/>
          </a:xfrm>
          <a:prstGeom prst="rect">
            <a:avLst/>
          </a:prstGeom>
          <a:noFill/>
          <a:ln/>
        </p:spPr>
        <p:txBody>
          <a:bodyPr wrap="square" lIns="0" tIns="0" rIns="0" bIns="0" rtlCol="0" anchor="ctr"/>
          <a:lstStyle/>
          <a:p>
            <a:pPr indent="0" marL="0">
              <a:buNone/>
            </a:pPr>
            <a:r>
              <a:rPr lang="en-US" sz="1100" b="1" spc="200" kern="0" dirty="0">
                <a:solidFill>
                  <a:srgbClr val="FFD60A"/>
                </a:solidFill>
                <a:latin typeface="Calibri" pitchFamily="34" charset="0"/>
                <a:ea typeface="Calibri" pitchFamily="34" charset="-122"/>
                <a:cs typeface="Calibri" pitchFamily="34" charset="-120"/>
              </a:rPr>
              <a:t>TRAFFIC</a:t>
            </a:r>
            <a:endParaRPr lang="en-US" sz="1100" dirty="0"/>
          </a:p>
        </p:txBody>
      </p:sp>
      <p:sp>
        <p:nvSpPr>
          <p:cNvPr id="8" name="Text 5"/>
          <p:cNvSpPr/>
          <p:nvPr/>
        </p:nvSpPr>
        <p:spPr>
          <a:xfrm>
            <a:off x="502920" y="1664208"/>
            <a:ext cx="2148840" cy="685800"/>
          </a:xfrm>
          <a:prstGeom prst="rect">
            <a:avLst/>
          </a:prstGeom>
          <a:noFill/>
          <a:ln/>
        </p:spPr>
        <p:txBody>
          <a:bodyPr wrap="square" lIns="0" tIns="0" rIns="0" bIns="0" rtlCol="0" anchor="ctr"/>
          <a:lstStyle/>
          <a:p>
            <a:pPr indent="0" marL="0">
              <a:buNone/>
            </a:pPr>
            <a:r>
              <a:rPr lang="en-US" sz="1100" dirty="0">
                <a:solidFill>
                  <a:srgbClr val="DCE8F5"/>
                </a:solidFill>
                <a:latin typeface="Calibri" pitchFamily="34" charset="0"/>
                <a:ea typeface="Calibri" pitchFamily="34" charset="-122"/>
                <a:cs typeface="Calibri" pitchFamily="34" charset="-120"/>
              </a:rPr>
              <a:t>Real-time congestion index across all 8 zones</a:t>
            </a:r>
            <a:endParaRPr lang="en-US" sz="1100" dirty="0"/>
          </a:p>
        </p:txBody>
      </p:sp>
      <p:sp>
        <p:nvSpPr>
          <p:cNvPr id="9" name="Shape 6"/>
          <p:cNvSpPr/>
          <p:nvPr/>
        </p:nvSpPr>
        <p:spPr>
          <a:xfrm>
            <a:off x="3154680" y="1005840"/>
            <a:ext cx="2468880" cy="146304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10" name="Shape 7"/>
          <p:cNvSpPr/>
          <p:nvPr/>
        </p:nvSpPr>
        <p:spPr>
          <a:xfrm>
            <a:off x="3154680" y="1005840"/>
            <a:ext cx="64008" cy="1463040"/>
          </a:xfrm>
          <a:prstGeom prst="rect">
            <a:avLst/>
          </a:prstGeom>
          <a:solidFill>
            <a:srgbClr val="00E5FF"/>
          </a:solidFill>
          <a:ln w="12700">
            <a:solidFill>
              <a:srgbClr val="00E5FF"/>
            </a:solidFill>
            <a:prstDash val="solid"/>
          </a:ln>
        </p:spPr>
      </p:sp>
      <p:pic>
        <p:nvPicPr>
          <p:cNvPr id="11" name="Image 1" descr="preencoded.png">    </p:cNvPr>
          <p:cNvPicPr>
            <a:picLocks noChangeAspect="1"/>
          </p:cNvPicPr>
          <p:nvPr/>
        </p:nvPicPr>
        <p:blipFill>
          <a:blip r:embed="rId2"/>
          <a:stretch>
            <a:fillRect/>
          </a:stretch>
        </p:blipFill>
        <p:spPr>
          <a:xfrm>
            <a:off x="3337560" y="1188720"/>
            <a:ext cx="411480" cy="411480"/>
          </a:xfrm>
          <a:prstGeom prst="rect">
            <a:avLst/>
          </a:prstGeom>
        </p:spPr>
      </p:pic>
      <p:sp>
        <p:nvSpPr>
          <p:cNvPr id="12" name="Text 8"/>
          <p:cNvSpPr/>
          <p:nvPr/>
        </p:nvSpPr>
        <p:spPr>
          <a:xfrm>
            <a:off x="3840480" y="1143000"/>
            <a:ext cx="1645920" cy="365760"/>
          </a:xfrm>
          <a:prstGeom prst="rect">
            <a:avLst/>
          </a:prstGeom>
          <a:noFill/>
          <a:ln/>
        </p:spPr>
        <p:txBody>
          <a:bodyPr wrap="square" lIns="0" tIns="0" rIns="0" bIns="0" rtlCol="0" anchor="ctr"/>
          <a:lstStyle/>
          <a:p>
            <a:pPr indent="0" marL="0">
              <a:buNone/>
            </a:pPr>
            <a:r>
              <a:rPr lang="en-US" sz="1100" b="1" spc="200" kern="0" dirty="0">
                <a:solidFill>
                  <a:srgbClr val="00E5FF"/>
                </a:solidFill>
                <a:latin typeface="Calibri" pitchFamily="34" charset="0"/>
                <a:ea typeface="Calibri" pitchFamily="34" charset="-122"/>
                <a:cs typeface="Calibri" pitchFamily="34" charset="-120"/>
              </a:rPr>
              <a:t>AIR QUALITY</a:t>
            </a:r>
            <a:endParaRPr lang="en-US" sz="1100" dirty="0"/>
          </a:p>
        </p:txBody>
      </p:sp>
      <p:sp>
        <p:nvSpPr>
          <p:cNvPr id="13" name="Text 9"/>
          <p:cNvSpPr/>
          <p:nvPr/>
        </p:nvSpPr>
        <p:spPr>
          <a:xfrm>
            <a:off x="3337560" y="1664208"/>
            <a:ext cx="2148840" cy="685800"/>
          </a:xfrm>
          <a:prstGeom prst="rect">
            <a:avLst/>
          </a:prstGeom>
          <a:noFill/>
          <a:ln/>
        </p:spPr>
        <p:txBody>
          <a:bodyPr wrap="square" lIns="0" tIns="0" rIns="0" bIns="0" rtlCol="0" anchor="ctr"/>
          <a:lstStyle/>
          <a:p>
            <a:pPr indent="0" marL="0">
              <a:buNone/>
            </a:pPr>
            <a:r>
              <a:rPr lang="en-US" sz="1100" dirty="0">
                <a:solidFill>
                  <a:srgbClr val="DCE8F5"/>
                </a:solidFill>
                <a:latin typeface="Calibri" pitchFamily="34" charset="0"/>
                <a:ea typeface="Calibri" pitchFamily="34" charset="-122"/>
                <a:cs typeface="Calibri" pitchFamily="34" charset="-120"/>
              </a:rPr>
              <a:t>AQI monitoring + industrial pollution spike detection</a:t>
            </a:r>
            <a:endParaRPr lang="en-US" sz="1100" dirty="0"/>
          </a:p>
        </p:txBody>
      </p:sp>
      <p:sp>
        <p:nvSpPr>
          <p:cNvPr id="14" name="Shape 10"/>
          <p:cNvSpPr/>
          <p:nvPr/>
        </p:nvSpPr>
        <p:spPr>
          <a:xfrm>
            <a:off x="5989320" y="1005840"/>
            <a:ext cx="2468880" cy="146304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15" name="Shape 11"/>
          <p:cNvSpPr/>
          <p:nvPr/>
        </p:nvSpPr>
        <p:spPr>
          <a:xfrm>
            <a:off x="5989320" y="1005840"/>
            <a:ext cx="64008" cy="1463040"/>
          </a:xfrm>
          <a:prstGeom prst="rect">
            <a:avLst/>
          </a:prstGeom>
          <a:solidFill>
            <a:srgbClr val="A855F7"/>
          </a:solidFill>
          <a:ln w="12700">
            <a:solidFill>
              <a:srgbClr val="A855F7"/>
            </a:solidFill>
            <a:prstDash val="solid"/>
          </a:ln>
        </p:spPr>
      </p:sp>
      <p:pic>
        <p:nvPicPr>
          <p:cNvPr id="16" name="Image 2" descr="preencoded.png">    </p:cNvPr>
          <p:cNvPicPr>
            <a:picLocks noChangeAspect="1"/>
          </p:cNvPicPr>
          <p:nvPr/>
        </p:nvPicPr>
        <p:blipFill>
          <a:blip r:embed="rId3"/>
          <a:stretch>
            <a:fillRect/>
          </a:stretch>
        </p:blipFill>
        <p:spPr>
          <a:xfrm>
            <a:off x="6172200" y="1188720"/>
            <a:ext cx="411480" cy="411480"/>
          </a:xfrm>
          <a:prstGeom prst="rect">
            <a:avLst/>
          </a:prstGeom>
        </p:spPr>
      </p:pic>
      <p:sp>
        <p:nvSpPr>
          <p:cNvPr id="17" name="Text 12"/>
          <p:cNvSpPr/>
          <p:nvPr/>
        </p:nvSpPr>
        <p:spPr>
          <a:xfrm>
            <a:off x="6675120" y="1143000"/>
            <a:ext cx="1645920" cy="365760"/>
          </a:xfrm>
          <a:prstGeom prst="rect">
            <a:avLst/>
          </a:prstGeom>
          <a:noFill/>
          <a:ln/>
        </p:spPr>
        <p:txBody>
          <a:bodyPr wrap="square" lIns="0" tIns="0" rIns="0" bIns="0" rtlCol="0" anchor="ctr"/>
          <a:lstStyle/>
          <a:p>
            <a:pPr indent="0" marL="0">
              <a:buNone/>
            </a:pPr>
            <a:r>
              <a:rPr lang="en-US" sz="1100" b="1" spc="200" kern="0" dirty="0">
                <a:solidFill>
                  <a:srgbClr val="A855F7"/>
                </a:solidFill>
                <a:latin typeface="Calibri" pitchFamily="34" charset="0"/>
                <a:ea typeface="Calibri" pitchFamily="34" charset="-122"/>
                <a:cs typeface="Calibri" pitchFamily="34" charset="-120"/>
              </a:rPr>
              <a:t>ENERGY</a:t>
            </a:r>
            <a:endParaRPr lang="en-US" sz="1100" dirty="0"/>
          </a:p>
        </p:txBody>
      </p:sp>
      <p:sp>
        <p:nvSpPr>
          <p:cNvPr id="18" name="Text 13"/>
          <p:cNvSpPr/>
          <p:nvPr/>
        </p:nvSpPr>
        <p:spPr>
          <a:xfrm>
            <a:off x="6172200" y="1664208"/>
            <a:ext cx="2148840" cy="685800"/>
          </a:xfrm>
          <a:prstGeom prst="rect">
            <a:avLst/>
          </a:prstGeom>
          <a:noFill/>
          <a:ln/>
        </p:spPr>
        <p:txBody>
          <a:bodyPr wrap="square" lIns="0" tIns="0" rIns="0" bIns="0" rtlCol="0" anchor="ctr"/>
          <a:lstStyle/>
          <a:p>
            <a:pPr indent="0" marL="0">
              <a:buNone/>
            </a:pPr>
            <a:r>
              <a:rPr lang="en-US" sz="1100" dirty="0">
                <a:solidFill>
                  <a:srgbClr val="DCE8F5"/>
                </a:solidFill>
                <a:latin typeface="Calibri" pitchFamily="34" charset="0"/>
                <a:ea typeface="Calibri" pitchFamily="34" charset="-122"/>
                <a:cs typeface="Calibri" pitchFamily="34" charset="-120"/>
              </a:rPr>
              <a:t>kWh consumption tracking + overload prediction</a:t>
            </a:r>
            <a:endParaRPr lang="en-US" sz="1100" dirty="0"/>
          </a:p>
        </p:txBody>
      </p:sp>
      <p:sp>
        <p:nvSpPr>
          <p:cNvPr id="19" name="Shape 14"/>
          <p:cNvSpPr/>
          <p:nvPr/>
        </p:nvSpPr>
        <p:spPr>
          <a:xfrm>
            <a:off x="1691640" y="2743200"/>
            <a:ext cx="2468880" cy="146304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20" name="Shape 15"/>
          <p:cNvSpPr/>
          <p:nvPr/>
        </p:nvSpPr>
        <p:spPr>
          <a:xfrm>
            <a:off x="1691640" y="2743200"/>
            <a:ext cx="64008" cy="1463040"/>
          </a:xfrm>
          <a:prstGeom prst="rect">
            <a:avLst/>
          </a:prstGeom>
          <a:solidFill>
            <a:srgbClr val="00B4D8"/>
          </a:solidFill>
          <a:ln w="12700">
            <a:solidFill>
              <a:srgbClr val="00B4D8"/>
            </a:solidFill>
            <a:prstDash val="solid"/>
          </a:ln>
        </p:spPr>
      </p:sp>
      <p:pic>
        <p:nvPicPr>
          <p:cNvPr id="21" name="Image 3" descr="preencoded.png">    </p:cNvPr>
          <p:cNvPicPr>
            <a:picLocks noChangeAspect="1"/>
          </p:cNvPicPr>
          <p:nvPr/>
        </p:nvPicPr>
        <p:blipFill>
          <a:blip r:embed="rId4"/>
          <a:stretch>
            <a:fillRect/>
          </a:stretch>
        </p:blipFill>
        <p:spPr>
          <a:xfrm>
            <a:off x="1874520" y="2926080"/>
            <a:ext cx="411480" cy="411480"/>
          </a:xfrm>
          <a:prstGeom prst="rect">
            <a:avLst/>
          </a:prstGeom>
        </p:spPr>
      </p:pic>
      <p:sp>
        <p:nvSpPr>
          <p:cNvPr id="22" name="Text 16"/>
          <p:cNvSpPr/>
          <p:nvPr/>
        </p:nvSpPr>
        <p:spPr>
          <a:xfrm>
            <a:off x="2377440" y="2880360"/>
            <a:ext cx="1645920" cy="365760"/>
          </a:xfrm>
          <a:prstGeom prst="rect">
            <a:avLst/>
          </a:prstGeom>
          <a:noFill/>
          <a:ln/>
        </p:spPr>
        <p:txBody>
          <a:bodyPr wrap="square" lIns="0" tIns="0" rIns="0" bIns="0" rtlCol="0" anchor="ctr"/>
          <a:lstStyle/>
          <a:p>
            <a:pPr indent="0" marL="0">
              <a:buNone/>
            </a:pPr>
            <a:r>
              <a:rPr lang="en-US" sz="1100" b="1" spc="200" kern="0" dirty="0">
                <a:solidFill>
                  <a:srgbClr val="00B4D8"/>
                </a:solidFill>
                <a:latin typeface="Calibri" pitchFamily="34" charset="0"/>
                <a:ea typeface="Calibri" pitchFamily="34" charset="-122"/>
                <a:cs typeface="Calibri" pitchFamily="34" charset="-120"/>
              </a:rPr>
              <a:t>WATER</a:t>
            </a:r>
            <a:endParaRPr lang="en-US" sz="1100" dirty="0"/>
          </a:p>
        </p:txBody>
      </p:sp>
      <p:sp>
        <p:nvSpPr>
          <p:cNvPr id="23" name="Text 17"/>
          <p:cNvSpPr/>
          <p:nvPr/>
        </p:nvSpPr>
        <p:spPr>
          <a:xfrm>
            <a:off x="1874520" y="3401568"/>
            <a:ext cx="2148840" cy="685800"/>
          </a:xfrm>
          <a:prstGeom prst="rect">
            <a:avLst/>
          </a:prstGeom>
          <a:noFill/>
          <a:ln/>
        </p:spPr>
        <p:txBody>
          <a:bodyPr wrap="square" lIns="0" tIns="0" rIns="0" bIns="0" rtlCol="0" anchor="ctr"/>
          <a:lstStyle/>
          <a:p>
            <a:pPr indent="0" marL="0">
              <a:buNone/>
            </a:pPr>
            <a:r>
              <a:rPr lang="en-US" sz="1100" dirty="0">
                <a:solidFill>
                  <a:srgbClr val="DCE8F5"/>
                </a:solidFill>
                <a:latin typeface="Calibri" pitchFamily="34" charset="0"/>
                <a:ea typeface="Calibri" pitchFamily="34" charset="-122"/>
                <a:cs typeface="Calibri" pitchFamily="34" charset="-120"/>
              </a:rPr>
              <a:t>L/hr flow monitoring + pipe leak anomaly detection</a:t>
            </a:r>
            <a:endParaRPr lang="en-US" sz="1100" dirty="0"/>
          </a:p>
        </p:txBody>
      </p:sp>
      <p:sp>
        <p:nvSpPr>
          <p:cNvPr id="24" name="Shape 18"/>
          <p:cNvSpPr/>
          <p:nvPr/>
        </p:nvSpPr>
        <p:spPr>
          <a:xfrm>
            <a:off x="4526280" y="2743200"/>
            <a:ext cx="2468880" cy="146304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25" name="Shape 19"/>
          <p:cNvSpPr/>
          <p:nvPr/>
        </p:nvSpPr>
        <p:spPr>
          <a:xfrm>
            <a:off x="4526280" y="2743200"/>
            <a:ext cx="64008" cy="1463040"/>
          </a:xfrm>
          <a:prstGeom prst="rect">
            <a:avLst/>
          </a:prstGeom>
          <a:solidFill>
            <a:srgbClr val="00FF88"/>
          </a:solidFill>
          <a:ln w="12700">
            <a:solidFill>
              <a:srgbClr val="00FF88"/>
            </a:solidFill>
            <a:prstDash val="solid"/>
          </a:ln>
        </p:spPr>
      </p:sp>
      <p:pic>
        <p:nvPicPr>
          <p:cNvPr id="26" name="Image 4" descr="preencoded.png">    </p:cNvPr>
          <p:cNvPicPr>
            <a:picLocks noChangeAspect="1"/>
          </p:cNvPicPr>
          <p:nvPr/>
        </p:nvPicPr>
        <p:blipFill>
          <a:blip r:embed="rId5"/>
          <a:stretch>
            <a:fillRect/>
          </a:stretch>
        </p:blipFill>
        <p:spPr>
          <a:xfrm>
            <a:off x="4709160" y="2926080"/>
            <a:ext cx="411480" cy="411480"/>
          </a:xfrm>
          <a:prstGeom prst="rect">
            <a:avLst/>
          </a:prstGeom>
        </p:spPr>
      </p:pic>
      <p:sp>
        <p:nvSpPr>
          <p:cNvPr id="27" name="Text 20"/>
          <p:cNvSpPr/>
          <p:nvPr/>
        </p:nvSpPr>
        <p:spPr>
          <a:xfrm>
            <a:off x="5212080" y="2880360"/>
            <a:ext cx="1645920" cy="365760"/>
          </a:xfrm>
          <a:prstGeom prst="rect">
            <a:avLst/>
          </a:prstGeom>
          <a:noFill/>
          <a:ln/>
        </p:spPr>
        <p:txBody>
          <a:bodyPr wrap="square" lIns="0" tIns="0" rIns="0" bIns="0" rtlCol="0" anchor="ctr"/>
          <a:lstStyle/>
          <a:p>
            <a:pPr indent="0" marL="0">
              <a:buNone/>
            </a:pPr>
            <a:r>
              <a:rPr lang="en-US" sz="1100" b="1" spc="200" kern="0" dirty="0">
                <a:solidFill>
                  <a:srgbClr val="00FF88"/>
                </a:solidFill>
                <a:latin typeface="Calibri" pitchFamily="34" charset="0"/>
                <a:ea typeface="Calibri" pitchFamily="34" charset="-122"/>
                <a:cs typeface="Calibri" pitchFamily="34" charset="-120"/>
              </a:rPr>
              <a:t>TRANSPORT</a:t>
            </a:r>
            <a:endParaRPr lang="en-US" sz="1100" dirty="0"/>
          </a:p>
        </p:txBody>
      </p:sp>
      <p:sp>
        <p:nvSpPr>
          <p:cNvPr id="28" name="Text 21"/>
          <p:cNvSpPr/>
          <p:nvPr/>
        </p:nvSpPr>
        <p:spPr>
          <a:xfrm>
            <a:off x="4709160" y="3401568"/>
            <a:ext cx="2148840" cy="685800"/>
          </a:xfrm>
          <a:prstGeom prst="rect">
            <a:avLst/>
          </a:prstGeom>
          <a:noFill/>
          <a:ln/>
        </p:spPr>
        <p:txBody>
          <a:bodyPr wrap="square" lIns="0" tIns="0" rIns="0" bIns="0" rtlCol="0" anchor="ctr"/>
          <a:lstStyle/>
          <a:p>
            <a:pPr indent="0" marL="0">
              <a:buNone/>
            </a:pPr>
            <a:r>
              <a:rPr lang="en-US" sz="1100" dirty="0">
                <a:solidFill>
                  <a:srgbClr val="DCE8F5"/>
                </a:solidFill>
                <a:latin typeface="Calibri" pitchFamily="34" charset="0"/>
                <a:ea typeface="Calibri" pitchFamily="34" charset="-122"/>
                <a:cs typeface="Calibri" pitchFamily="34" charset="-120"/>
              </a:rPr>
              <a:t>Public ridership data + route optimization signals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90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C1118"/>
          </a:solidFill>
          <a:ln w="12700">
            <a:solidFill>
              <a:srgbClr val="0C111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1400" b="1" spc="400" kern="0" dirty="0">
                <a:solidFill>
                  <a:srgbClr val="00E5FF"/>
                </a:solidFill>
                <a:latin typeface="Calibri" pitchFamily="34" charset="0"/>
                <a:ea typeface="Calibri" pitchFamily="34" charset="-122"/>
                <a:cs typeface="Calibri" pitchFamily="34" charset="-120"/>
              </a:rPr>
              <a:t>AI-POWERED INTELLIGENCE</a:t>
            </a:r>
            <a:endParaRPr lang="en-US" sz="1400" dirty="0"/>
          </a:p>
        </p:txBody>
      </p:sp>
      <p:sp>
        <p:nvSpPr>
          <p:cNvPr id="4" name="Shape 2"/>
          <p:cNvSpPr/>
          <p:nvPr/>
        </p:nvSpPr>
        <p:spPr>
          <a:xfrm>
            <a:off x="320040" y="960120"/>
            <a:ext cx="4114800" cy="384048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5" name="Shape 3"/>
          <p:cNvSpPr/>
          <p:nvPr/>
        </p:nvSpPr>
        <p:spPr>
          <a:xfrm>
            <a:off x="320040" y="960120"/>
            <a:ext cx="4114800" cy="64008"/>
          </a:xfrm>
          <a:prstGeom prst="rect">
            <a:avLst/>
          </a:prstGeom>
          <a:solidFill>
            <a:srgbClr val="FF3B3B"/>
          </a:solidFill>
          <a:ln w="12700">
            <a:solidFill>
              <a:srgbClr val="FF3B3B"/>
            </a:solidFill>
            <a:prstDash val="solid"/>
          </a:ln>
        </p:spPr>
      </p:sp>
      <p:pic>
        <p:nvPicPr>
          <p:cNvPr id="6" name="Image 0" descr="preencoded.png">    </p:cNvPr>
          <p:cNvPicPr>
            <a:picLocks noChangeAspect="1"/>
          </p:cNvPicPr>
          <p:nvPr/>
        </p:nvPicPr>
        <p:blipFill>
          <a:blip r:embed="rId1"/>
          <a:stretch>
            <a:fillRect/>
          </a:stretch>
        </p:blipFill>
        <p:spPr>
          <a:xfrm>
            <a:off x="548640" y="1188720"/>
            <a:ext cx="640080" cy="640080"/>
          </a:xfrm>
          <a:prstGeom prst="rect">
            <a:avLst/>
          </a:prstGeom>
        </p:spPr>
      </p:pic>
      <p:sp>
        <p:nvSpPr>
          <p:cNvPr id="7" name="Text 4"/>
          <p:cNvSpPr/>
          <p:nvPr/>
        </p:nvSpPr>
        <p:spPr>
          <a:xfrm>
            <a:off x="1325880" y="1188720"/>
            <a:ext cx="2926080" cy="640080"/>
          </a:xfrm>
          <a:prstGeom prst="rect">
            <a:avLst/>
          </a:prstGeom>
          <a:noFill/>
          <a:ln/>
        </p:spPr>
        <p:txBody>
          <a:bodyPr wrap="square" lIns="0" tIns="0" rIns="0" bIns="0" rtlCol="0" anchor="ctr"/>
          <a:lstStyle/>
          <a:p>
            <a:pPr indent="0" marL="0">
              <a:buNone/>
            </a:pPr>
            <a:r>
              <a:rPr lang="en-US" sz="1300" b="1" spc="100" kern="0" dirty="0">
                <a:solidFill>
                  <a:srgbClr val="FF3B3B"/>
                </a:solidFill>
                <a:latin typeface="Calibri" pitchFamily="34" charset="0"/>
                <a:ea typeface="Calibri" pitchFamily="34" charset="-122"/>
                <a:cs typeface="Calibri" pitchFamily="34" charset="-120"/>
              </a:rPr>
              <a:t>ISOLATION FOREST ML</a:t>
            </a:r>
            <a:endParaRPr lang="en-US" sz="1300" dirty="0"/>
          </a:p>
        </p:txBody>
      </p:sp>
      <p:sp>
        <p:nvSpPr>
          <p:cNvPr id="8" name="Text 5"/>
          <p:cNvSpPr/>
          <p:nvPr/>
        </p:nvSpPr>
        <p:spPr>
          <a:xfrm>
            <a:off x="502920" y="1965960"/>
            <a:ext cx="3749040" cy="2606040"/>
          </a:xfrm>
          <a:prstGeom prst="rect">
            <a:avLst/>
          </a:prstGeom>
          <a:noFill/>
          <a:ln/>
        </p:spPr>
        <p:txBody>
          <a:bodyPr wrap="square" lIns="0" tIns="0" rIns="0" bIns="0" rtlCol="0" anchor="ctr"/>
          <a:lstStyle/>
          <a:p>
            <a:pPr indent="0" marL="0">
              <a:buNone/>
            </a:pPr>
            <a:r>
              <a:rPr lang="en-US" sz="1250" dirty="0">
                <a:solidFill>
                  <a:srgbClr val="DCE8F5"/>
                </a:solidFill>
                <a:latin typeface="Calibri" pitchFamily="34" charset="0"/>
                <a:ea typeface="Calibri" pitchFamily="34" charset="-122"/>
                <a:cs typeface="Calibri" pitchFamily="34" charset="-120"/>
              </a:rPr>
              <a:t>Detects anomalies per zone with 95% accuracy
</a:t>
            </a:r>
            <a:pPr indent="0" marL="0">
              <a:buNone/>
            </a:pPr>
            <a:r>
              <a:rPr lang="en-US" sz="1250" dirty="0">
                <a:solidFill>
                  <a:srgbClr val="DCE8F5"/>
                </a:solidFill>
                <a:latin typeface="Calibri" pitchFamily="34" charset="0"/>
                <a:ea typeface="Calibri" pitchFamily="34" charset="-122"/>
                <a:cs typeface="Calibri" pitchFamily="34" charset="-120"/>
              </a:rPr>
              <a:t>
</a:t>
            </a:r>
            <a:endParaRPr lang="en-US" sz="1250" dirty="0"/>
          </a:p>
          <a:p>
            <a:pPr indent="0" marL="0">
              <a:buNone/>
            </a:pPr>
            <a:r>
              <a:rPr lang="en-US" sz="1250" dirty="0">
                <a:solidFill>
                  <a:srgbClr val="DCE8F5"/>
                </a:solidFill>
                <a:latin typeface="Calibri" pitchFamily="34" charset="0"/>
                <a:ea typeface="Calibri" pitchFamily="34" charset="-122"/>
                <a:cs typeface="Calibri" pitchFamily="34" charset="-120"/>
              </a:rPr>
              <a:t>• Industrial pollution spikes (Z2 — Gandhibagh)
</a:t>
            </a:r>
            <a:pPr indent="0" marL="0">
              <a:buNone/>
            </a:pPr>
            <a:r>
              <a:rPr lang="en-US" sz="1250" dirty="0">
                <a:solidFill>
                  <a:srgbClr val="DCE8F5"/>
                </a:solidFill>
                <a:latin typeface="Calibri" pitchFamily="34" charset="0"/>
                <a:ea typeface="Calibri" pitchFamily="34" charset="-122"/>
                <a:cs typeface="Calibri" pitchFamily="34" charset="-120"/>
              </a:rPr>
              <a:t>• 3am pipe burst detection (Z7 — Manish Nagar)
</a:t>
            </a:r>
            <a:pPr indent="0" marL="0">
              <a:buNone/>
            </a:pPr>
            <a:r>
              <a:rPr lang="en-US" sz="1250" dirty="0">
                <a:solidFill>
                  <a:srgbClr val="DCE8F5"/>
                </a:solidFill>
                <a:latin typeface="Calibri" pitchFamily="34" charset="0"/>
                <a:ea typeface="Calibri" pitchFamily="34" charset="-122"/>
                <a:cs typeface="Calibri" pitchFamily="34" charset="-120"/>
              </a:rPr>
              <a:t>• Event energy overloads (Z1 — Sitabuldi)
</a:t>
            </a:r>
            <a:pPr indent="0" marL="0">
              <a:buNone/>
            </a:pPr>
            <a:r>
              <a:rPr lang="en-US" sz="1250" dirty="0">
                <a:solidFill>
                  <a:srgbClr val="DCE8F5"/>
                </a:solidFill>
                <a:latin typeface="Calibri" pitchFamily="34" charset="0"/>
                <a:ea typeface="Calibri" pitchFamily="34" charset="-122"/>
                <a:cs typeface="Calibri" pitchFamily="34" charset="-120"/>
              </a:rPr>
              <a:t>
</a:t>
            </a:r>
            <a:endParaRPr lang="en-US" sz="1250" dirty="0"/>
          </a:p>
          <a:p>
            <a:pPr indent="0" marL="0">
              <a:buNone/>
            </a:pPr>
            <a:r>
              <a:rPr lang="en-US" sz="1250" dirty="0">
                <a:solidFill>
                  <a:srgbClr val="DCE8F5"/>
                </a:solidFill>
                <a:latin typeface="Calibri" pitchFamily="34" charset="0"/>
                <a:ea typeface="Calibri" pitchFamily="34" charset="-122"/>
                <a:cs typeface="Calibri" pitchFamily="34" charset="-120"/>
              </a:rPr>
              <a:t>Anomaly score surfaced per event — field team dispatched automatically</a:t>
            </a:r>
            <a:endParaRPr lang="en-US" sz="1250" dirty="0"/>
          </a:p>
        </p:txBody>
      </p:sp>
      <p:sp>
        <p:nvSpPr>
          <p:cNvPr id="9" name="Shape 6"/>
          <p:cNvSpPr/>
          <p:nvPr/>
        </p:nvSpPr>
        <p:spPr>
          <a:xfrm>
            <a:off x="4709160" y="960120"/>
            <a:ext cx="4114800" cy="173736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10" name="Shape 7"/>
          <p:cNvSpPr/>
          <p:nvPr/>
        </p:nvSpPr>
        <p:spPr>
          <a:xfrm>
            <a:off x="4709160" y="960120"/>
            <a:ext cx="4114800" cy="64008"/>
          </a:xfrm>
          <a:prstGeom prst="rect">
            <a:avLst/>
          </a:prstGeom>
          <a:solidFill>
            <a:srgbClr val="A855F7"/>
          </a:solidFill>
          <a:ln w="12700">
            <a:solidFill>
              <a:srgbClr val="A855F7"/>
            </a:solidFill>
            <a:prstDash val="solid"/>
          </a:ln>
        </p:spPr>
      </p:sp>
      <p:sp>
        <p:nvSpPr>
          <p:cNvPr id="11" name="Text 8"/>
          <p:cNvSpPr/>
          <p:nvPr/>
        </p:nvSpPr>
        <p:spPr>
          <a:xfrm>
            <a:off x="4846320" y="1143000"/>
            <a:ext cx="3840480" cy="365760"/>
          </a:xfrm>
          <a:prstGeom prst="rect">
            <a:avLst/>
          </a:prstGeom>
          <a:noFill/>
          <a:ln/>
        </p:spPr>
        <p:txBody>
          <a:bodyPr wrap="square" lIns="0" tIns="0" rIns="0" bIns="0" rtlCol="0" anchor="ctr"/>
          <a:lstStyle/>
          <a:p>
            <a:pPr indent="0" marL="0">
              <a:buNone/>
            </a:pPr>
            <a:r>
              <a:rPr lang="en-US" sz="1100" b="1" spc="200" kern="0" dirty="0">
                <a:solidFill>
                  <a:srgbClr val="A855F7"/>
                </a:solidFill>
                <a:latin typeface="Calibri" pitchFamily="34" charset="0"/>
                <a:ea typeface="Calibri" pitchFamily="34" charset="-122"/>
                <a:cs typeface="Calibri" pitchFamily="34" charset="-120"/>
              </a:rPr>
              <a:t>NLP QUERY ENGINE</a:t>
            </a:r>
            <a:endParaRPr lang="en-US" sz="1100" dirty="0"/>
          </a:p>
        </p:txBody>
      </p:sp>
      <p:sp>
        <p:nvSpPr>
          <p:cNvPr id="12" name="Shape 9"/>
          <p:cNvSpPr/>
          <p:nvPr/>
        </p:nvSpPr>
        <p:spPr>
          <a:xfrm>
            <a:off x="4846320" y="1600200"/>
            <a:ext cx="3657600" cy="457200"/>
          </a:xfrm>
          <a:prstGeom prst="rect">
            <a:avLst/>
          </a:prstGeom>
          <a:solidFill>
            <a:srgbClr val="0D1220"/>
          </a:solidFill>
          <a:ln w="12700">
            <a:solidFill>
              <a:srgbClr val="4A6480"/>
            </a:solidFill>
            <a:prstDash val="solid"/>
          </a:ln>
        </p:spPr>
      </p:sp>
      <p:sp>
        <p:nvSpPr>
          <p:cNvPr id="13" name="Text 10"/>
          <p:cNvSpPr/>
          <p:nvPr/>
        </p:nvSpPr>
        <p:spPr>
          <a:xfrm>
            <a:off x="4846320" y="1600200"/>
            <a:ext cx="3657600" cy="457200"/>
          </a:xfrm>
          <a:prstGeom prst="rect">
            <a:avLst/>
          </a:prstGeom>
          <a:noFill/>
          <a:ln/>
        </p:spPr>
        <p:txBody>
          <a:bodyPr wrap="square" lIns="101600" tIns="101600" rIns="101600" bIns="101600" rtlCol="0" anchor="ctr"/>
          <a:lstStyle/>
          <a:p>
            <a:pPr indent="0" marL="0">
              <a:buNone/>
            </a:pPr>
            <a:r>
              <a:rPr lang="en-US" sz="1050" i="1" dirty="0">
                <a:solidFill>
                  <a:srgbClr val="00E5FF"/>
                </a:solidFill>
                <a:latin typeface="Calibri" pitchFamily="34" charset="0"/>
                <a:ea typeface="Calibri" pitchFamily="34" charset="-122"/>
                <a:cs typeface="Calibri" pitchFamily="34" charset="-120"/>
              </a:rPr>
              <a:t>"Which zone has the worst air quality?"</a:t>
            </a:r>
            <a:endParaRPr lang="en-US" sz="1050" dirty="0"/>
          </a:p>
        </p:txBody>
      </p:sp>
      <p:sp>
        <p:nvSpPr>
          <p:cNvPr id="14" name="Text 11"/>
          <p:cNvSpPr/>
          <p:nvPr/>
        </p:nvSpPr>
        <p:spPr>
          <a:xfrm>
            <a:off x="4846320" y="2148840"/>
            <a:ext cx="3749040" cy="411480"/>
          </a:xfrm>
          <a:prstGeom prst="rect">
            <a:avLst/>
          </a:prstGeom>
          <a:noFill/>
          <a:ln/>
        </p:spPr>
        <p:txBody>
          <a:bodyPr wrap="square" lIns="0" tIns="0" rIns="0" bIns="0" rtlCol="0" anchor="ctr"/>
          <a:lstStyle/>
          <a:p>
            <a:pPr indent="0" marL="0">
              <a:buNone/>
            </a:pPr>
            <a:r>
              <a:rPr lang="en-US" sz="1100" dirty="0">
                <a:solidFill>
                  <a:srgbClr val="DCE8F5"/>
                </a:solidFill>
                <a:latin typeface="Calibri" pitchFamily="34" charset="0"/>
                <a:ea typeface="Calibri" pitchFamily="34" charset="-122"/>
                <a:cs typeface="Calibri" pitchFamily="34" charset="-120"/>
              </a:rPr>
              <a:t>→ Instant answer + map highlight, no SQL needed</a:t>
            </a:r>
            <a:endParaRPr lang="en-US" sz="1100" dirty="0"/>
          </a:p>
        </p:txBody>
      </p:sp>
      <p:sp>
        <p:nvSpPr>
          <p:cNvPr id="15" name="Shape 12"/>
          <p:cNvSpPr/>
          <p:nvPr/>
        </p:nvSpPr>
        <p:spPr>
          <a:xfrm>
            <a:off x="4709160" y="2880360"/>
            <a:ext cx="4114800" cy="192024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16" name="Shape 13"/>
          <p:cNvSpPr/>
          <p:nvPr/>
        </p:nvSpPr>
        <p:spPr>
          <a:xfrm>
            <a:off x="4709160" y="2880360"/>
            <a:ext cx="4114800" cy="64008"/>
          </a:xfrm>
          <a:prstGeom prst="rect">
            <a:avLst/>
          </a:prstGeom>
          <a:solidFill>
            <a:srgbClr val="00FF88"/>
          </a:solidFill>
          <a:ln w="12700">
            <a:solidFill>
              <a:srgbClr val="00FF88"/>
            </a:solidFill>
            <a:prstDash val="solid"/>
          </a:ln>
        </p:spPr>
      </p:sp>
      <p:sp>
        <p:nvSpPr>
          <p:cNvPr id="17" name="Text 14"/>
          <p:cNvSpPr/>
          <p:nvPr/>
        </p:nvSpPr>
        <p:spPr>
          <a:xfrm>
            <a:off x="4846320" y="3035808"/>
            <a:ext cx="3840480" cy="365760"/>
          </a:xfrm>
          <a:prstGeom prst="rect">
            <a:avLst/>
          </a:prstGeom>
          <a:noFill/>
          <a:ln/>
        </p:spPr>
        <p:txBody>
          <a:bodyPr wrap="square" lIns="0" tIns="0" rIns="0" bIns="0" rtlCol="0" anchor="ctr"/>
          <a:lstStyle/>
          <a:p>
            <a:pPr indent="0" marL="0">
              <a:buNone/>
            </a:pPr>
            <a:r>
              <a:rPr lang="en-US" sz="1100" b="1" spc="100" kern="0" dirty="0">
                <a:solidFill>
                  <a:srgbClr val="00FF88"/>
                </a:solidFill>
                <a:latin typeface="Calibri" pitchFamily="34" charset="0"/>
                <a:ea typeface="Calibri" pitchFamily="34" charset="-122"/>
                <a:cs typeface="Calibri" pitchFamily="34" charset="-120"/>
              </a:rPr>
              <a:t>24HR FORECAST + AI PLANNER</a:t>
            </a:r>
            <a:endParaRPr lang="en-US" sz="1100" dirty="0"/>
          </a:p>
        </p:txBody>
      </p:sp>
      <p:sp>
        <p:nvSpPr>
          <p:cNvPr id="18" name="Text 15"/>
          <p:cNvSpPr/>
          <p:nvPr/>
        </p:nvSpPr>
        <p:spPr>
          <a:xfrm>
            <a:off x="4846320" y="3493008"/>
            <a:ext cx="3749040" cy="1143000"/>
          </a:xfrm>
          <a:prstGeom prst="rect">
            <a:avLst/>
          </a:prstGeom>
          <a:noFill/>
          <a:ln/>
        </p:spPr>
        <p:txBody>
          <a:bodyPr wrap="square" lIns="0" tIns="0" rIns="0" bIns="0" rtlCol="0" anchor="ctr"/>
          <a:lstStyle/>
          <a:p>
            <a:pPr indent="0" marL="0">
              <a:buNone/>
            </a:pPr>
            <a:r>
              <a:rPr lang="en-US" sz="1150" dirty="0">
                <a:solidFill>
                  <a:srgbClr val="DCE8F5"/>
                </a:solidFill>
                <a:latin typeface="Calibri" pitchFamily="34" charset="0"/>
                <a:ea typeface="Calibri" pitchFamily="34" charset="-122"/>
                <a:cs typeface="Calibri" pitchFamily="34" charset="-120"/>
              </a:rPr>
              <a:t>Hourly metric forecasting per zone based on historical patterns.</a:t>
            </a:r>
            <a:endParaRPr lang="en-US" sz="1150" dirty="0"/>
          </a:p>
          <a:p>
            <a:pPr indent="0" marL="0">
              <a:buNone/>
            </a:pPr>
            <a:endParaRPr lang="en-US" sz="1150" dirty="0"/>
          </a:p>
          <a:p>
            <a:pPr indent="0" marL="0">
              <a:buNone/>
            </a:pPr>
            <a:r>
              <a:rPr lang="en-US" sz="1150" dirty="0">
                <a:solidFill>
                  <a:srgbClr val="DCE8F5"/>
                </a:solidFill>
                <a:latin typeface="Calibri" pitchFamily="34" charset="0"/>
                <a:ea typeface="Calibri" pitchFamily="34" charset="-122"/>
                <a:cs typeface="Calibri" pitchFamily="34" charset="-120"/>
              </a:rPr>
              <a:t>AI Planner scores zones for infrastructure investment — EV stations, water sensors, air monitors — ranked by impact score.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90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C1118"/>
          </a:solidFill>
          <a:ln w="12700">
            <a:solidFill>
              <a:srgbClr val="0C111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1200" b="1" spc="300" kern="0" dirty="0">
                <a:solidFill>
                  <a:srgbClr val="00E5FF"/>
                </a:solidFill>
                <a:latin typeface="Calibri" pitchFamily="34" charset="0"/>
                <a:ea typeface="Calibri" pitchFamily="34" charset="-122"/>
                <a:cs typeface="Calibri" pitchFamily="34" charset="-120"/>
              </a:rPr>
              <a:t>RSOC — REMOTE SECURITY OPERATIONS CENTER</a:t>
            </a:r>
            <a:endParaRPr lang="en-US" sz="1200" dirty="0"/>
          </a:p>
        </p:txBody>
      </p:sp>
      <p:sp>
        <p:nvSpPr>
          <p:cNvPr id="4" name="Text 2"/>
          <p:cNvSpPr/>
          <p:nvPr/>
        </p:nvSpPr>
        <p:spPr>
          <a:xfrm>
            <a:off x="365760" y="1005840"/>
            <a:ext cx="4114800" cy="7772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field team's command center.</a:t>
            </a:r>
            <a:endParaRPr lang="en-US" sz="2000" dirty="0"/>
          </a:p>
          <a:p>
            <a:pPr indent="0" marL="0">
              <a:buNone/>
            </a:pPr>
            <a:r>
              <a:rPr lang="en-US" sz="2000" b="1" dirty="0">
                <a:solidFill>
                  <a:srgbClr val="FFFFFF"/>
                </a:solidFill>
                <a:latin typeface="Calibri" pitchFamily="34" charset="0"/>
                <a:ea typeface="Calibri" pitchFamily="34" charset="-122"/>
                <a:cs typeface="Calibri" pitchFamily="34" charset="-120"/>
              </a:rPr>
              <a:t>Available everywhere.</a:t>
            </a:r>
            <a:endParaRPr lang="en-US" sz="2000" dirty="0"/>
          </a:p>
        </p:txBody>
      </p:sp>
      <p:sp>
        <p:nvSpPr>
          <p:cNvPr id="5" name="Text 3"/>
          <p:cNvSpPr/>
          <p:nvPr/>
        </p:nvSpPr>
        <p:spPr>
          <a:xfrm>
            <a:off x="365760" y="1920240"/>
            <a:ext cx="4114800" cy="731520"/>
          </a:xfrm>
          <a:prstGeom prst="rect">
            <a:avLst/>
          </a:prstGeom>
          <a:noFill/>
          <a:ln/>
        </p:spPr>
        <p:txBody>
          <a:bodyPr wrap="square" lIns="0" tIns="0" rIns="0" bIns="0" rtlCol="0" anchor="ctr"/>
          <a:lstStyle/>
          <a:p>
            <a:pPr indent="0" marL="0">
              <a:buNone/>
            </a:pPr>
            <a:r>
              <a:rPr lang="en-US" sz="1300" dirty="0">
                <a:solidFill>
                  <a:srgbClr val="DCE8F5"/>
                </a:solidFill>
                <a:latin typeface="Calibri" pitchFamily="34" charset="0"/>
                <a:ea typeface="Calibri" pitchFamily="34" charset="-122"/>
                <a:cs typeface="Calibri" pitchFamily="34" charset="-120"/>
              </a:rPr>
              <a:t>RSOC is a Flutter mobile app that puts NexaCity intelligence in the hands of field operators — anywhere, anytime.</a:t>
            </a:r>
            <a:endParaRPr lang="en-US" sz="1300" dirty="0"/>
          </a:p>
        </p:txBody>
      </p:sp>
      <p:sp>
        <p:nvSpPr>
          <p:cNvPr id="6" name="Shape 4"/>
          <p:cNvSpPr/>
          <p:nvPr/>
        </p:nvSpPr>
        <p:spPr>
          <a:xfrm>
            <a:off x="365760" y="2834640"/>
            <a:ext cx="4114800" cy="438912"/>
          </a:xfrm>
          <a:prstGeom prst="rect">
            <a:avLst/>
          </a:prstGeom>
          <a:solidFill>
            <a:srgbClr val="111820"/>
          </a:solidFill>
          <a:ln w="12700">
            <a:solidFill>
              <a:srgbClr val="1C2D42"/>
            </a:solidFill>
            <a:prstDash val="solid"/>
          </a:ln>
        </p:spPr>
      </p:sp>
      <p:sp>
        <p:nvSpPr>
          <p:cNvPr id="7" name="Shape 5"/>
          <p:cNvSpPr/>
          <p:nvPr/>
        </p:nvSpPr>
        <p:spPr>
          <a:xfrm>
            <a:off x="365760" y="2834640"/>
            <a:ext cx="45720" cy="438912"/>
          </a:xfrm>
          <a:prstGeom prst="rect">
            <a:avLst/>
          </a:prstGeom>
          <a:solidFill>
            <a:srgbClr val="00E5FF"/>
          </a:solidFill>
          <a:ln w="12700">
            <a:solidFill>
              <a:srgbClr val="00E5FF"/>
            </a:solidFill>
            <a:prstDash val="solid"/>
          </a:ln>
        </p:spPr>
      </p:sp>
      <p:pic>
        <p:nvPicPr>
          <p:cNvPr id="8" name="Image 0" descr="preencoded.png">    </p:cNvPr>
          <p:cNvPicPr>
            <a:picLocks noChangeAspect="1"/>
          </p:cNvPicPr>
          <p:nvPr/>
        </p:nvPicPr>
        <p:blipFill>
          <a:blip r:embed="rId1"/>
          <a:stretch>
            <a:fillRect/>
          </a:stretch>
        </p:blipFill>
        <p:spPr>
          <a:xfrm>
            <a:off x="530352" y="2926080"/>
            <a:ext cx="256032" cy="256032"/>
          </a:xfrm>
          <a:prstGeom prst="rect">
            <a:avLst/>
          </a:prstGeom>
        </p:spPr>
      </p:pic>
      <p:sp>
        <p:nvSpPr>
          <p:cNvPr id="9" name="Text 6"/>
          <p:cNvSpPr/>
          <p:nvPr/>
        </p:nvSpPr>
        <p:spPr>
          <a:xfrm>
            <a:off x="914400" y="2871216"/>
            <a:ext cx="1280160" cy="201168"/>
          </a:xfrm>
          <a:prstGeom prst="rect">
            <a:avLst/>
          </a:prstGeom>
          <a:noFill/>
          <a:ln/>
        </p:spPr>
        <p:txBody>
          <a:bodyPr wrap="square" lIns="0" tIns="0" rIns="0" bIns="0" rtlCol="0" anchor="ctr"/>
          <a:lstStyle/>
          <a:p>
            <a:pPr indent="0" marL="0">
              <a:buNone/>
            </a:pPr>
            <a:r>
              <a:rPr lang="en-US" sz="1000" b="1" dirty="0">
                <a:solidFill>
                  <a:srgbClr val="00E5FF"/>
                </a:solidFill>
                <a:latin typeface="Calibri" pitchFamily="34" charset="0"/>
                <a:ea typeface="Calibri" pitchFamily="34" charset="-122"/>
                <a:cs typeface="Calibri" pitchFamily="34" charset="-120"/>
              </a:rPr>
              <a:t>Live Dashboard</a:t>
            </a:r>
            <a:endParaRPr lang="en-US" sz="1000" dirty="0"/>
          </a:p>
        </p:txBody>
      </p:sp>
      <p:sp>
        <p:nvSpPr>
          <p:cNvPr id="10" name="Text 7"/>
          <p:cNvSpPr/>
          <p:nvPr/>
        </p:nvSpPr>
        <p:spPr>
          <a:xfrm>
            <a:off x="914400" y="3054096"/>
            <a:ext cx="3383280" cy="182880"/>
          </a:xfrm>
          <a:prstGeom prst="rect">
            <a:avLst/>
          </a:prstGeom>
          <a:noFill/>
          <a:ln/>
        </p:spPr>
        <p:txBody>
          <a:bodyPr wrap="square" lIns="0" tIns="0" rIns="0" bIns="0" rtlCol="0" anchor="ctr"/>
          <a:lstStyle/>
          <a:p>
            <a:pPr indent="0" marL="0">
              <a:buNone/>
            </a:pPr>
            <a:r>
              <a:rPr lang="en-US" sz="950" dirty="0">
                <a:solidFill>
                  <a:srgbClr val="4A6480"/>
                </a:solidFill>
                <a:latin typeface="Calibri" pitchFamily="34" charset="0"/>
                <a:ea typeface="Calibri" pitchFamily="34" charset="-122"/>
                <a:cs typeface="Calibri" pitchFamily="34" charset="-120"/>
              </a:rPr>
              <a:t>City health score, critical zones, anomaly count — live</a:t>
            </a:r>
            <a:endParaRPr lang="en-US" sz="950" dirty="0"/>
          </a:p>
        </p:txBody>
      </p:sp>
      <p:sp>
        <p:nvSpPr>
          <p:cNvPr id="11" name="Shape 8"/>
          <p:cNvSpPr/>
          <p:nvPr/>
        </p:nvSpPr>
        <p:spPr>
          <a:xfrm>
            <a:off x="365760" y="3337560"/>
            <a:ext cx="4114800" cy="438912"/>
          </a:xfrm>
          <a:prstGeom prst="rect">
            <a:avLst/>
          </a:prstGeom>
          <a:solidFill>
            <a:srgbClr val="111820"/>
          </a:solidFill>
          <a:ln w="12700">
            <a:solidFill>
              <a:srgbClr val="1C2D42"/>
            </a:solidFill>
            <a:prstDash val="solid"/>
          </a:ln>
        </p:spPr>
      </p:sp>
      <p:sp>
        <p:nvSpPr>
          <p:cNvPr id="12" name="Shape 9"/>
          <p:cNvSpPr/>
          <p:nvPr/>
        </p:nvSpPr>
        <p:spPr>
          <a:xfrm>
            <a:off x="365760" y="3337560"/>
            <a:ext cx="45720" cy="438912"/>
          </a:xfrm>
          <a:prstGeom prst="rect">
            <a:avLst/>
          </a:prstGeom>
          <a:solidFill>
            <a:srgbClr val="FF3B3B"/>
          </a:solidFill>
          <a:ln w="12700">
            <a:solidFill>
              <a:srgbClr val="FF3B3B"/>
            </a:solidFill>
            <a:prstDash val="solid"/>
          </a:ln>
        </p:spPr>
      </p:sp>
      <p:pic>
        <p:nvPicPr>
          <p:cNvPr id="13" name="Image 1" descr="preencoded.png">    </p:cNvPr>
          <p:cNvPicPr>
            <a:picLocks noChangeAspect="1"/>
          </p:cNvPicPr>
          <p:nvPr/>
        </p:nvPicPr>
        <p:blipFill>
          <a:blip r:embed="rId2"/>
          <a:stretch>
            <a:fillRect/>
          </a:stretch>
        </p:blipFill>
        <p:spPr>
          <a:xfrm>
            <a:off x="530352" y="3429000"/>
            <a:ext cx="256032" cy="256032"/>
          </a:xfrm>
          <a:prstGeom prst="rect">
            <a:avLst/>
          </a:prstGeom>
        </p:spPr>
      </p:pic>
      <p:sp>
        <p:nvSpPr>
          <p:cNvPr id="14" name="Text 10"/>
          <p:cNvSpPr/>
          <p:nvPr/>
        </p:nvSpPr>
        <p:spPr>
          <a:xfrm>
            <a:off x="914400" y="3374136"/>
            <a:ext cx="1280160" cy="201168"/>
          </a:xfrm>
          <a:prstGeom prst="rect">
            <a:avLst/>
          </a:prstGeom>
          <a:noFill/>
          <a:ln/>
        </p:spPr>
        <p:txBody>
          <a:bodyPr wrap="square" lIns="0" tIns="0" rIns="0" bIns="0" rtlCol="0" anchor="ctr"/>
          <a:lstStyle/>
          <a:p>
            <a:pPr indent="0" marL="0">
              <a:buNone/>
            </a:pPr>
            <a:r>
              <a:rPr lang="en-US" sz="1000" b="1" dirty="0">
                <a:solidFill>
                  <a:srgbClr val="FF3B3B"/>
                </a:solidFill>
                <a:latin typeface="Calibri" pitchFamily="34" charset="0"/>
                <a:ea typeface="Calibri" pitchFamily="34" charset="-122"/>
                <a:cs typeface="Calibri" pitchFamily="34" charset="-120"/>
              </a:rPr>
              <a:t>Incident Feed</a:t>
            </a:r>
            <a:endParaRPr lang="en-US" sz="1000" dirty="0"/>
          </a:p>
        </p:txBody>
      </p:sp>
      <p:sp>
        <p:nvSpPr>
          <p:cNvPr id="15" name="Text 11"/>
          <p:cNvSpPr/>
          <p:nvPr/>
        </p:nvSpPr>
        <p:spPr>
          <a:xfrm>
            <a:off x="914400" y="3557016"/>
            <a:ext cx="3383280" cy="182880"/>
          </a:xfrm>
          <a:prstGeom prst="rect">
            <a:avLst/>
          </a:prstGeom>
          <a:noFill/>
          <a:ln/>
        </p:spPr>
        <p:txBody>
          <a:bodyPr wrap="square" lIns="0" tIns="0" rIns="0" bIns="0" rtlCol="0" anchor="ctr"/>
          <a:lstStyle/>
          <a:p>
            <a:pPr indent="0" marL="0">
              <a:buNone/>
            </a:pPr>
            <a:r>
              <a:rPr lang="en-US" sz="950" dirty="0">
                <a:solidFill>
                  <a:srgbClr val="4A6480"/>
                </a:solidFill>
                <a:latin typeface="Calibri" pitchFamily="34" charset="0"/>
                <a:ea typeface="Calibri" pitchFamily="34" charset="-122"/>
                <a:cs typeface="Calibri" pitchFamily="34" charset="-120"/>
              </a:rPr>
              <a:t>Real-time anomaly alerts with severity scores</a:t>
            </a:r>
            <a:endParaRPr lang="en-US" sz="950" dirty="0"/>
          </a:p>
        </p:txBody>
      </p:sp>
      <p:sp>
        <p:nvSpPr>
          <p:cNvPr id="16" name="Shape 12"/>
          <p:cNvSpPr/>
          <p:nvPr/>
        </p:nvSpPr>
        <p:spPr>
          <a:xfrm>
            <a:off x="365760" y="3840480"/>
            <a:ext cx="4114800" cy="438912"/>
          </a:xfrm>
          <a:prstGeom prst="rect">
            <a:avLst/>
          </a:prstGeom>
          <a:solidFill>
            <a:srgbClr val="111820"/>
          </a:solidFill>
          <a:ln w="12700">
            <a:solidFill>
              <a:srgbClr val="1C2D42"/>
            </a:solidFill>
            <a:prstDash val="solid"/>
          </a:ln>
        </p:spPr>
      </p:sp>
      <p:sp>
        <p:nvSpPr>
          <p:cNvPr id="17" name="Shape 13"/>
          <p:cNvSpPr/>
          <p:nvPr/>
        </p:nvSpPr>
        <p:spPr>
          <a:xfrm>
            <a:off x="365760" y="3840480"/>
            <a:ext cx="45720" cy="438912"/>
          </a:xfrm>
          <a:prstGeom prst="rect">
            <a:avLst/>
          </a:prstGeom>
          <a:solidFill>
            <a:srgbClr val="00FF88"/>
          </a:solidFill>
          <a:ln w="12700">
            <a:solidFill>
              <a:srgbClr val="00FF88"/>
            </a:solidFill>
            <a:prstDash val="solid"/>
          </a:ln>
        </p:spPr>
      </p:sp>
      <p:pic>
        <p:nvPicPr>
          <p:cNvPr id="18" name="Image 2" descr="preencoded.png">    </p:cNvPr>
          <p:cNvPicPr>
            <a:picLocks noChangeAspect="1"/>
          </p:cNvPicPr>
          <p:nvPr/>
        </p:nvPicPr>
        <p:blipFill>
          <a:blip r:embed="rId3"/>
          <a:stretch>
            <a:fillRect/>
          </a:stretch>
        </p:blipFill>
        <p:spPr>
          <a:xfrm>
            <a:off x="530352" y="3931920"/>
            <a:ext cx="256032" cy="256032"/>
          </a:xfrm>
          <a:prstGeom prst="rect">
            <a:avLst/>
          </a:prstGeom>
        </p:spPr>
      </p:pic>
      <p:sp>
        <p:nvSpPr>
          <p:cNvPr id="19" name="Text 14"/>
          <p:cNvSpPr/>
          <p:nvPr/>
        </p:nvSpPr>
        <p:spPr>
          <a:xfrm>
            <a:off x="914400" y="3877056"/>
            <a:ext cx="1280160" cy="201168"/>
          </a:xfrm>
          <a:prstGeom prst="rect">
            <a:avLst/>
          </a:prstGeom>
          <a:noFill/>
          <a:ln/>
        </p:spPr>
        <p:txBody>
          <a:bodyPr wrap="square" lIns="0" tIns="0" rIns="0" bIns="0" rtlCol="0" anchor="ctr"/>
          <a:lstStyle/>
          <a:p>
            <a:pPr indent="0" marL="0">
              <a:buNone/>
            </a:pPr>
            <a:r>
              <a:rPr lang="en-US" sz="1000" b="1" dirty="0">
                <a:solidFill>
                  <a:srgbClr val="00FF88"/>
                </a:solidFill>
                <a:latin typeface="Calibri" pitchFamily="34" charset="0"/>
                <a:ea typeface="Calibri" pitchFamily="34" charset="-122"/>
                <a:cs typeface="Calibri" pitchFamily="34" charset="-120"/>
              </a:rPr>
              <a:t>Zone Monitor</a:t>
            </a:r>
            <a:endParaRPr lang="en-US" sz="1000" dirty="0"/>
          </a:p>
        </p:txBody>
      </p:sp>
      <p:sp>
        <p:nvSpPr>
          <p:cNvPr id="20" name="Text 15"/>
          <p:cNvSpPr/>
          <p:nvPr/>
        </p:nvSpPr>
        <p:spPr>
          <a:xfrm>
            <a:off x="914400" y="4059936"/>
            <a:ext cx="3383280" cy="182880"/>
          </a:xfrm>
          <a:prstGeom prst="rect">
            <a:avLst/>
          </a:prstGeom>
          <a:noFill/>
          <a:ln/>
        </p:spPr>
        <p:txBody>
          <a:bodyPr wrap="square" lIns="0" tIns="0" rIns="0" bIns="0" rtlCol="0" anchor="ctr"/>
          <a:lstStyle/>
          <a:p>
            <a:pPr indent="0" marL="0">
              <a:buNone/>
            </a:pPr>
            <a:r>
              <a:rPr lang="en-US" sz="950" dirty="0">
                <a:solidFill>
                  <a:srgbClr val="4A6480"/>
                </a:solidFill>
                <a:latin typeface="Calibri" pitchFamily="34" charset="0"/>
                <a:ea typeface="Calibri" pitchFamily="34" charset="-122"/>
                <a:cs typeface="Calibri" pitchFamily="34" charset="-120"/>
              </a:rPr>
              <a:t>All 8 zones with status, type, and health metrics</a:t>
            </a:r>
            <a:endParaRPr lang="en-US" sz="950" dirty="0"/>
          </a:p>
        </p:txBody>
      </p:sp>
      <p:sp>
        <p:nvSpPr>
          <p:cNvPr id="21" name="Shape 16"/>
          <p:cNvSpPr/>
          <p:nvPr/>
        </p:nvSpPr>
        <p:spPr>
          <a:xfrm>
            <a:off x="365760" y="4343400"/>
            <a:ext cx="4114800" cy="438912"/>
          </a:xfrm>
          <a:prstGeom prst="rect">
            <a:avLst/>
          </a:prstGeom>
          <a:solidFill>
            <a:srgbClr val="111820"/>
          </a:solidFill>
          <a:ln w="12700">
            <a:solidFill>
              <a:srgbClr val="1C2D42"/>
            </a:solidFill>
            <a:prstDash val="solid"/>
          </a:ln>
        </p:spPr>
      </p:sp>
      <p:sp>
        <p:nvSpPr>
          <p:cNvPr id="22" name="Shape 17"/>
          <p:cNvSpPr/>
          <p:nvPr/>
        </p:nvSpPr>
        <p:spPr>
          <a:xfrm>
            <a:off x="365760" y="4343400"/>
            <a:ext cx="45720" cy="438912"/>
          </a:xfrm>
          <a:prstGeom prst="rect">
            <a:avLst/>
          </a:prstGeom>
          <a:solidFill>
            <a:srgbClr val="A855F7"/>
          </a:solidFill>
          <a:ln w="12700">
            <a:solidFill>
              <a:srgbClr val="A855F7"/>
            </a:solidFill>
            <a:prstDash val="solid"/>
          </a:ln>
        </p:spPr>
      </p:sp>
      <p:pic>
        <p:nvPicPr>
          <p:cNvPr id="23" name="Image 3" descr="preencoded.png">    </p:cNvPr>
          <p:cNvPicPr>
            <a:picLocks noChangeAspect="1"/>
          </p:cNvPicPr>
          <p:nvPr/>
        </p:nvPicPr>
        <p:blipFill>
          <a:blip r:embed="rId4"/>
          <a:stretch>
            <a:fillRect/>
          </a:stretch>
        </p:blipFill>
        <p:spPr>
          <a:xfrm>
            <a:off x="530352" y="4434840"/>
            <a:ext cx="256032" cy="256032"/>
          </a:xfrm>
          <a:prstGeom prst="rect">
            <a:avLst/>
          </a:prstGeom>
        </p:spPr>
      </p:pic>
      <p:sp>
        <p:nvSpPr>
          <p:cNvPr id="24" name="Text 18"/>
          <p:cNvSpPr/>
          <p:nvPr/>
        </p:nvSpPr>
        <p:spPr>
          <a:xfrm>
            <a:off x="914400" y="4379976"/>
            <a:ext cx="1280160" cy="201168"/>
          </a:xfrm>
          <a:prstGeom prst="rect">
            <a:avLst/>
          </a:prstGeom>
          <a:noFill/>
          <a:ln/>
        </p:spPr>
        <p:txBody>
          <a:bodyPr wrap="square" lIns="0" tIns="0" rIns="0" bIns="0" rtlCol="0" anchor="ctr"/>
          <a:lstStyle/>
          <a:p>
            <a:pPr indent="0" marL="0">
              <a:buNone/>
            </a:pPr>
            <a:r>
              <a:rPr lang="en-US" sz="1000" b="1" dirty="0">
                <a:solidFill>
                  <a:srgbClr val="A855F7"/>
                </a:solidFill>
                <a:latin typeface="Calibri" pitchFamily="34" charset="0"/>
                <a:ea typeface="Calibri" pitchFamily="34" charset="-122"/>
                <a:cs typeface="Calibri" pitchFamily="34" charset="-120"/>
              </a:rPr>
              <a:t>Field Settings</a:t>
            </a:r>
            <a:endParaRPr lang="en-US" sz="1000" dirty="0"/>
          </a:p>
        </p:txBody>
      </p:sp>
      <p:sp>
        <p:nvSpPr>
          <p:cNvPr id="25" name="Text 19"/>
          <p:cNvSpPr/>
          <p:nvPr/>
        </p:nvSpPr>
        <p:spPr>
          <a:xfrm>
            <a:off x="914400" y="4562856"/>
            <a:ext cx="3383280" cy="182880"/>
          </a:xfrm>
          <a:prstGeom prst="rect">
            <a:avLst/>
          </a:prstGeom>
          <a:noFill/>
          <a:ln/>
        </p:spPr>
        <p:txBody>
          <a:bodyPr wrap="square" lIns="0" tIns="0" rIns="0" bIns="0" rtlCol="0" anchor="ctr"/>
          <a:lstStyle/>
          <a:p>
            <a:pPr indent="0" marL="0">
              <a:buNone/>
            </a:pPr>
            <a:r>
              <a:rPr lang="en-US" sz="950" dirty="0">
                <a:solidFill>
                  <a:srgbClr val="4A6480"/>
                </a:solidFill>
                <a:latin typeface="Calibri" pitchFamily="34" charset="0"/>
                <a:ea typeface="Calibri" pitchFamily="34" charset="-122"/>
                <a:cs typeface="Calibri" pitchFamily="34" charset="-120"/>
              </a:rPr>
              <a:t>Alert thresholds, notification preferences</a:t>
            </a:r>
            <a:endParaRPr lang="en-US" sz="950" dirty="0"/>
          </a:p>
        </p:txBody>
      </p:sp>
      <p:sp>
        <p:nvSpPr>
          <p:cNvPr id="26" name="Shape 20"/>
          <p:cNvSpPr/>
          <p:nvPr/>
        </p:nvSpPr>
        <p:spPr>
          <a:xfrm>
            <a:off x="5029200" y="868680"/>
            <a:ext cx="3474720" cy="4023360"/>
          </a:xfrm>
          <a:prstGeom prst="rect">
            <a:avLst/>
          </a:prstGeom>
          <a:solidFill>
            <a:srgbClr val="0A0F1A"/>
          </a:solidFill>
          <a:ln w="25400">
            <a:solidFill>
              <a:srgbClr val="1C2D42"/>
            </a:solidFill>
            <a:prstDash val="solid"/>
          </a:ln>
          <a:effectLst>
            <a:outerShdw sx="100000" sy="100000" kx="0" ky="0" algn="bl" rotWithShape="0" blurRad="381000" dist="50800" dir="8100000">
              <a:srgbClr val="00e5ff">
                <a:alpha val="20000"/>
              </a:srgbClr>
            </a:outerShdw>
          </a:effectLst>
        </p:spPr>
      </p:sp>
      <p:sp>
        <p:nvSpPr>
          <p:cNvPr id="27" name="Shape 21"/>
          <p:cNvSpPr/>
          <p:nvPr/>
        </p:nvSpPr>
        <p:spPr>
          <a:xfrm>
            <a:off x="5166360" y="1024128"/>
            <a:ext cx="3200400" cy="3703320"/>
          </a:xfrm>
          <a:prstGeom prst="rect">
            <a:avLst/>
          </a:prstGeom>
          <a:solidFill>
            <a:srgbClr val="0C1118"/>
          </a:solidFill>
          <a:ln w="12700">
            <a:solidFill>
              <a:srgbClr val="0C1118"/>
            </a:solidFill>
            <a:prstDash val="solid"/>
          </a:ln>
        </p:spPr>
      </p:sp>
      <p:sp>
        <p:nvSpPr>
          <p:cNvPr id="28" name="Text 22"/>
          <p:cNvSpPr/>
          <p:nvPr/>
        </p:nvSpPr>
        <p:spPr>
          <a:xfrm>
            <a:off x="5257800" y="1115568"/>
            <a:ext cx="3017520" cy="411480"/>
          </a:xfrm>
          <a:prstGeom prst="rect">
            <a:avLst/>
          </a:prstGeom>
          <a:noFill/>
          <a:ln/>
        </p:spPr>
        <p:txBody>
          <a:bodyPr wrap="square" lIns="0" tIns="0" rIns="0" bIns="0" rtlCol="0" anchor="ctr"/>
          <a:lstStyle/>
          <a:p>
            <a:pPr algn="ctr" indent="0" marL="0">
              <a:buNone/>
            </a:pPr>
            <a:r>
              <a:rPr lang="en-US" sz="1800" b="1" spc="400" kern="0" dirty="0">
                <a:solidFill>
                  <a:srgbClr val="00E5FF"/>
                </a:solidFill>
                <a:latin typeface="Calibri" pitchFamily="34" charset="0"/>
                <a:ea typeface="Calibri" pitchFamily="34" charset="-122"/>
                <a:cs typeface="Calibri" pitchFamily="34" charset="-120"/>
              </a:rPr>
              <a:t>RSOC</a:t>
            </a:r>
            <a:endParaRPr lang="en-US" sz="1800" dirty="0"/>
          </a:p>
        </p:txBody>
      </p:sp>
      <p:sp>
        <p:nvSpPr>
          <p:cNvPr id="29" name="Text 23"/>
          <p:cNvSpPr/>
          <p:nvPr/>
        </p:nvSpPr>
        <p:spPr>
          <a:xfrm>
            <a:off x="5257800" y="1481328"/>
            <a:ext cx="3017520" cy="274320"/>
          </a:xfrm>
          <a:prstGeom prst="rect">
            <a:avLst/>
          </a:prstGeom>
          <a:noFill/>
          <a:ln/>
        </p:spPr>
        <p:txBody>
          <a:bodyPr wrap="square" lIns="0" tIns="0" rIns="0" bIns="0" rtlCol="0" anchor="ctr"/>
          <a:lstStyle/>
          <a:p>
            <a:pPr algn="ctr" indent="0" marL="0">
              <a:buNone/>
            </a:pPr>
            <a:r>
              <a:rPr lang="en-US" sz="700" spc="150" kern="0" dirty="0">
                <a:solidFill>
                  <a:srgbClr val="4A6480"/>
                </a:solidFill>
                <a:latin typeface="Calibri" pitchFamily="34" charset="0"/>
                <a:ea typeface="Calibri" pitchFamily="34" charset="-122"/>
                <a:cs typeface="Calibri" pitchFamily="34" charset="-120"/>
              </a:rPr>
              <a:t>REMOTE SECURITY OPS CENTER</a:t>
            </a:r>
            <a:endParaRPr lang="en-US" sz="700" dirty="0"/>
          </a:p>
        </p:txBody>
      </p:sp>
      <p:sp>
        <p:nvSpPr>
          <p:cNvPr id="30" name="Shape 24"/>
          <p:cNvSpPr/>
          <p:nvPr/>
        </p:nvSpPr>
        <p:spPr>
          <a:xfrm>
            <a:off x="5257800" y="1874520"/>
            <a:ext cx="960120" cy="685800"/>
          </a:xfrm>
          <a:prstGeom prst="rect">
            <a:avLst/>
          </a:prstGeom>
          <a:solidFill>
            <a:srgbClr val="111820"/>
          </a:solidFill>
          <a:ln w="12700">
            <a:solidFill>
              <a:srgbClr val="1C2D42"/>
            </a:solidFill>
            <a:prstDash val="solid"/>
          </a:ln>
        </p:spPr>
      </p:sp>
      <p:sp>
        <p:nvSpPr>
          <p:cNvPr id="31" name="Text 25"/>
          <p:cNvSpPr/>
          <p:nvPr/>
        </p:nvSpPr>
        <p:spPr>
          <a:xfrm>
            <a:off x="5257800" y="1920240"/>
            <a:ext cx="960120" cy="347472"/>
          </a:xfrm>
          <a:prstGeom prst="rect">
            <a:avLst/>
          </a:prstGeom>
          <a:noFill/>
          <a:ln/>
        </p:spPr>
        <p:txBody>
          <a:bodyPr wrap="square" lIns="0" tIns="0" rIns="0" bIns="0" rtlCol="0" anchor="ctr"/>
          <a:lstStyle/>
          <a:p>
            <a:pPr algn="ctr" indent="0" marL="0">
              <a:buNone/>
            </a:pPr>
            <a:r>
              <a:rPr lang="en-US" sz="1600" b="1" dirty="0">
                <a:solidFill>
                  <a:srgbClr val="00FF88"/>
                </a:solidFill>
                <a:latin typeface="Calibri" pitchFamily="34" charset="0"/>
                <a:ea typeface="Calibri" pitchFamily="34" charset="-122"/>
                <a:cs typeface="Calibri" pitchFamily="34" charset="-120"/>
              </a:rPr>
              <a:t>78/100</a:t>
            </a:r>
            <a:endParaRPr lang="en-US" sz="1600" dirty="0"/>
          </a:p>
        </p:txBody>
      </p:sp>
      <p:sp>
        <p:nvSpPr>
          <p:cNvPr id="32" name="Text 26"/>
          <p:cNvSpPr/>
          <p:nvPr/>
        </p:nvSpPr>
        <p:spPr>
          <a:xfrm>
            <a:off x="5257800" y="2267712"/>
            <a:ext cx="960120" cy="256032"/>
          </a:xfrm>
          <a:prstGeom prst="rect">
            <a:avLst/>
          </a:prstGeom>
          <a:noFill/>
          <a:ln/>
        </p:spPr>
        <p:txBody>
          <a:bodyPr wrap="square" lIns="0" tIns="0" rIns="0" bIns="0" rtlCol="0" anchor="ctr"/>
          <a:lstStyle/>
          <a:p>
            <a:pPr algn="ctr" indent="0" marL="0">
              <a:buNone/>
            </a:pPr>
            <a:r>
              <a:rPr lang="en-US" sz="600" spc="50" kern="0" dirty="0">
                <a:solidFill>
                  <a:srgbClr val="4A6480"/>
                </a:solidFill>
                <a:latin typeface="Calibri" pitchFamily="34" charset="0"/>
                <a:ea typeface="Calibri" pitchFamily="34" charset="-122"/>
                <a:cs typeface="Calibri" pitchFamily="34" charset="-120"/>
              </a:rPr>
              <a:t>CITY HEALTH</a:t>
            </a:r>
            <a:endParaRPr lang="en-US" sz="600" dirty="0"/>
          </a:p>
        </p:txBody>
      </p:sp>
      <p:sp>
        <p:nvSpPr>
          <p:cNvPr id="33" name="Shape 27"/>
          <p:cNvSpPr/>
          <p:nvPr/>
        </p:nvSpPr>
        <p:spPr>
          <a:xfrm>
            <a:off x="6309360" y="1874520"/>
            <a:ext cx="960120" cy="685800"/>
          </a:xfrm>
          <a:prstGeom prst="rect">
            <a:avLst/>
          </a:prstGeom>
          <a:solidFill>
            <a:srgbClr val="111820"/>
          </a:solidFill>
          <a:ln w="12700">
            <a:solidFill>
              <a:srgbClr val="1C2D42"/>
            </a:solidFill>
            <a:prstDash val="solid"/>
          </a:ln>
        </p:spPr>
      </p:sp>
      <p:sp>
        <p:nvSpPr>
          <p:cNvPr id="34" name="Text 28"/>
          <p:cNvSpPr/>
          <p:nvPr/>
        </p:nvSpPr>
        <p:spPr>
          <a:xfrm>
            <a:off x="6309360" y="1920240"/>
            <a:ext cx="960120" cy="347472"/>
          </a:xfrm>
          <a:prstGeom prst="rect">
            <a:avLst/>
          </a:prstGeom>
          <a:noFill/>
          <a:ln/>
        </p:spPr>
        <p:txBody>
          <a:bodyPr wrap="square" lIns="0" tIns="0" rIns="0" bIns="0" rtlCol="0" anchor="ctr"/>
          <a:lstStyle/>
          <a:p>
            <a:pPr algn="ctr" indent="0" marL="0">
              <a:buNone/>
            </a:pPr>
            <a:r>
              <a:rPr lang="en-US" sz="1600" b="1" dirty="0">
                <a:solidFill>
                  <a:srgbClr val="FF3B3B"/>
                </a:solidFill>
                <a:latin typeface="Calibri" pitchFamily="34" charset="0"/>
                <a:ea typeface="Calibri" pitchFamily="34" charset="-122"/>
                <a:cs typeface="Calibri" pitchFamily="34" charset="-120"/>
              </a:rPr>
              <a:t>2</a:t>
            </a:r>
            <a:endParaRPr lang="en-US" sz="1600" dirty="0"/>
          </a:p>
        </p:txBody>
      </p:sp>
      <p:sp>
        <p:nvSpPr>
          <p:cNvPr id="35" name="Text 29"/>
          <p:cNvSpPr/>
          <p:nvPr/>
        </p:nvSpPr>
        <p:spPr>
          <a:xfrm>
            <a:off x="6309360" y="2267712"/>
            <a:ext cx="960120" cy="256032"/>
          </a:xfrm>
          <a:prstGeom prst="rect">
            <a:avLst/>
          </a:prstGeom>
          <a:noFill/>
          <a:ln/>
        </p:spPr>
        <p:txBody>
          <a:bodyPr wrap="square" lIns="0" tIns="0" rIns="0" bIns="0" rtlCol="0" anchor="ctr"/>
          <a:lstStyle/>
          <a:p>
            <a:pPr algn="ctr" indent="0" marL="0">
              <a:buNone/>
            </a:pPr>
            <a:r>
              <a:rPr lang="en-US" sz="600" spc="50" kern="0" dirty="0">
                <a:solidFill>
                  <a:srgbClr val="4A6480"/>
                </a:solidFill>
                <a:latin typeface="Calibri" pitchFamily="34" charset="0"/>
                <a:ea typeface="Calibri" pitchFamily="34" charset="-122"/>
                <a:cs typeface="Calibri" pitchFamily="34" charset="-120"/>
              </a:rPr>
              <a:t>CRITICAL ZONES</a:t>
            </a:r>
            <a:endParaRPr lang="en-US" sz="600" dirty="0"/>
          </a:p>
        </p:txBody>
      </p:sp>
      <p:sp>
        <p:nvSpPr>
          <p:cNvPr id="36" name="Shape 30"/>
          <p:cNvSpPr/>
          <p:nvPr/>
        </p:nvSpPr>
        <p:spPr>
          <a:xfrm>
            <a:off x="7360920" y="1874520"/>
            <a:ext cx="960120" cy="685800"/>
          </a:xfrm>
          <a:prstGeom prst="rect">
            <a:avLst/>
          </a:prstGeom>
          <a:solidFill>
            <a:srgbClr val="111820"/>
          </a:solidFill>
          <a:ln w="12700">
            <a:solidFill>
              <a:srgbClr val="1C2D42"/>
            </a:solidFill>
            <a:prstDash val="solid"/>
          </a:ln>
        </p:spPr>
      </p:sp>
      <p:sp>
        <p:nvSpPr>
          <p:cNvPr id="37" name="Text 31"/>
          <p:cNvSpPr/>
          <p:nvPr/>
        </p:nvSpPr>
        <p:spPr>
          <a:xfrm>
            <a:off x="7360920" y="1920240"/>
            <a:ext cx="960120" cy="347472"/>
          </a:xfrm>
          <a:prstGeom prst="rect">
            <a:avLst/>
          </a:prstGeom>
          <a:noFill/>
          <a:ln/>
        </p:spPr>
        <p:txBody>
          <a:bodyPr wrap="square" lIns="0" tIns="0" rIns="0" bIns="0" rtlCol="0" anchor="ctr"/>
          <a:lstStyle/>
          <a:p>
            <a:pPr algn="ctr" indent="0" marL="0">
              <a:buNone/>
            </a:pPr>
            <a:r>
              <a:rPr lang="en-US" sz="1600" b="1" dirty="0">
                <a:solidFill>
                  <a:srgbClr val="FFD60A"/>
                </a:solidFill>
                <a:latin typeface="Calibri" pitchFamily="34" charset="0"/>
                <a:ea typeface="Calibri" pitchFamily="34" charset="-122"/>
                <a:cs typeface="Calibri" pitchFamily="34" charset="-120"/>
              </a:rPr>
              <a:t>14</a:t>
            </a:r>
            <a:endParaRPr lang="en-US" sz="1600" dirty="0"/>
          </a:p>
        </p:txBody>
      </p:sp>
      <p:sp>
        <p:nvSpPr>
          <p:cNvPr id="38" name="Text 32"/>
          <p:cNvSpPr/>
          <p:nvPr/>
        </p:nvSpPr>
        <p:spPr>
          <a:xfrm>
            <a:off x="7360920" y="2267712"/>
            <a:ext cx="960120" cy="256032"/>
          </a:xfrm>
          <a:prstGeom prst="rect">
            <a:avLst/>
          </a:prstGeom>
          <a:noFill/>
          <a:ln/>
        </p:spPr>
        <p:txBody>
          <a:bodyPr wrap="square" lIns="0" tIns="0" rIns="0" bIns="0" rtlCol="0" anchor="ctr"/>
          <a:lstStyle/>
          <a:p>
            <a:pPr algn="ctr" indent="0" marL="0">
              <a:buNone/>
            </a:pPr>
            <a:r>
              <a:rPr lang="en-US" sz="600" spc="50" kern="0" dirty="0">
                <a:solidFill>
                  <a:srgbClr val="4A6480"/>
                </a:solidFill>
                <a:latin typeface="Calibri" pitchFamily="34" charset="0"/>
                <a:ea typeface="Calibri" pitchFamily="34" charset="-122"/>
                <a:cs typeface="Calibri" pitchFamily="34" charset="-120"/>
              </a:rPr>
              <a:t>ANOMALIES</a:t>
            </a:r>
            <a:endParaRPr lang="en-US" sz="600" dirty="0"/>
          </a:p>
        </p:txBody>
      </p:sp>
      <p:sp>
        <p:nvSpPr>
          <p:cNvPr id="39" name="Text 33"/>
          <p:cNvSpPr/>
          <p:nvPr/>
        </p:nvSpPr>
        <p:spPr>
          <a:xfrm>
            <a:off x="5257800" y="2743200"/>
            <a:ext cx="3017520" cy="1828800"/>
          </a:xfrm>
          <a:prstGeom prst="rect">
            <a:avLst/>
          </a:prstGeom>
          <a:noFill/>
          <a:ln/>
        </p:spPr>
        <p:txBody>
          <a:bodyPr wrap="square" lIns="0" tIns="0" rIns="0" bIns="0" rtlCol="0" anchor="ctr"/>
          <a:lstStyle/>
          <a:p>
            <a:pPr algn="ctr" indent="0" marL="0">
              <a:buNone/>
            </a:pPr>
            <a:r>
              <a:rPr lang="en-US" sz="1000" i="1" dirty="0">
                <a:solidFill>
                  <a:srgbClr val="4A6480"/>
                </a:solidFill>
                <a:latin typeface="Calibri" pitchFamily="34" charset="0"/>
                <a:ea typeface="Calibri" pitchFamily="34" charset="-122"/>
                <a:cs typeface="Calibri" pitchFamily="34" charset="-120"/>
              </a:rPr>
              <a:t>← Live incidents loading →</a:t>
            </a:r>
            <a:endParaRPr lang="en-US" sz="1000" dirty="0"/>
          </a:p>
        </p:txBody>
      </p:sp>
      <p:sp>
        <p:nvSpPr>
          <p:cNvPr id="40" name="Shape 34"/>
          <p:cNvSpPr/>
          <p:nvPr/>
        </p:nvSpPr>
        <p:spPr>
          <a:xfrm>
            <a:off x="5029200" y="4709160"/>
            <a:ext cx="1280160" cy="292608"/>
          </a:xfrm>
          <a:prstGeom prst="rect">
            <a:avLst/>
          </a:prstGeom>
          <a:solidFill>
            <a:srgbClr val="0553B1"/>
          </a:solidFill>
          <a:ln w="12700">
            <a:solidFill>
              <a:srgbClr val="0553B1"/>
            </a:solidFill>
            <a:prstDash val="solid"/>
          </a:ln>
        </p:spPr>
      </p:sp>
      <p:sp>
        <p:nvSpPr>
          <p:cNvPr id="41" name="Text 35"/>
          <p:cNvSpPr/>
          <p:nvPr/>
        </p:nvSpPr>
        <p:spPr>
          <a:xfrm>
            <a:off x="5029200" y="4709160"/>
            <a:ext cx="128016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Built with Flutter</a:t>
            </a:r>
            <a:endParaRPr lang="en-US" sz="850" dirty="0"/>
          </a:p>
        </p:txBody>
      </p:sp>
      <p:sp>
        <p:nvSpPr>
          <p:cNvPr id="42" name="Shape 36"/>
          <p:cNvSpPr/>
          <p:nvPr/>
        </p:nvSpPr>
        <p:spPr>
          <a:xfrm>
            <a:off x="6400800" y="4709160"/>
            <a:ext cx="2103120" cy="292608"/>
          </a:xfrm>
          <a:prstGeom prst="rect">
            <a:avLst/>
          </a:prstGeom>
          <a:solidFill>
            <a:srgbClr val="0D3540"/>
          </a:solidFill>
          <a:ln w="12700">
            <a:solidFill>
              <a:srgbClr val="00E5FF"/>
            </a:solidFill>
            <a:prstDash val="solid"/>
          </a:ln>
        </p:spPr>
      </p:sp>
      <p:sp>
        <p:nvSpPr>
          <p:cNvPr id="43" name="Text 37"/>
          <p:cNvSpPr/>
          <p:nvPr/>
        </p:nvSpPr>
        <p:spPr>
          <a:xfrm>
            <a:off x="6400800" y="4709160"/>
            <a:ext cx="2103120" cy="292608"/>
          </a:xfrm>
          <a:prstGeom prst="rect">
            <a:avLst/>
          </a:prstGeom>
          <a:noFill/>
          <a:ln/>
        </p:spPr>
        <p:txBody>
          <a:bodyPr wrap="square" lIns="0" tIns="0" rIns="0" bIns="0" rtlCol="0" anchor="ctr"/>
          <a:lstStyle/>
          <a:p>
            <a:pPr algn="ctr" indent="0" marL="0">
              <a:buNone/>
            </a:pPr>
            <a:r>
              <a:rPr lang="en-US" sz="850" dirty="0">
                <a:solidFill>
                  <a:srgbClr val="00E5FF"/>
                </a:solidFill>
                <a:latin typeface="Calibri" pitchFamily="34" charset="0"/>
                <a:ea typeface="Calibri" pitchFamily="34" charset="-122"/>
                <a:cs typeface="Calibri" pitchFamily="34" charset="-120"/>
              </a:rPr>
              <a:t>iOS · Android · Web · Desktop</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90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C1118"/>
          </a:solidFill>
          <a:ln w="12700">
            <a:solidFill>
              <a:srgbClr val="0C111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1400" b="1" spc="400" kern="0" dirty="0">
                <a:solidFill>
                  <a:srgbClr val="00E5FF"/>
                </a:solidFill>
                <a:latin typeface="Calibri" pitchFamily="34" charset="0"/>
                <a:ea typeface="Calibri" pitchFamily="34" charset="-122"/>
                <a:cs typeface="Calibri" pitchFamily="34" charset="-120"/>
              </a:rPr>
              <a:t>TECH STACK</a:t>
            </a:r>
            <a:endParaRPr lang="en-US" sz="1400" dirty="0"/>
          </a:p>
        </p:txBody>
      </p:sp>
      <p:sp>
        <p:nvSpPr>
          <p:cNvPr id="4" name="Shape 2"/>
          <p:cNvSpPr/>
          <p:nvPr/>
        </p:nvSpPr>
        <p:spPr>
          <a:xfrm>
            <a:off x="320040" y="960120"/>
            <a:ext cx="1600200" cy="384048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5" name="Shape 3"/>
          <p:cNvSpPr/>
          <p:nvPr/>
        </p:nvSpPr>
        <p:spPr>
          <a:xfrm>
            <a:off x="320040" y="960120"/>
            <a:ext cx="1600200" cy="64008"/>
          </a:xfrm>
          <a:prstGeom prst="rect">
            <a:avLst/>
          </a:prstGeom>
          <a:solidFill>
            <a:srgbClr val="00E5FF"/>
          </a:solidFill>
          <a:ln w="12700">
            <a:solidFill>
              <a:srgbClr val="00E5FF"/>
            </a:solidFill>
            <a:prstDash val="solid"/>
          </a:ln>
        </p:spPr>
      </p:sp>
      <p:sp>
        <p:nvSpPr>
          <p:cNvPr id="6" name="Text 4"/>
          <p:cNvSpPr/>
          <p:nvPr/>
        </p:nvSpPr>
        <p:spPr>
          <a:xfrm>
            <a:off x="320040" y="1143000"/>
            <a:ext cx="1600200" cy="347472"/>
          </a:xfrm>
          <a:prstGeom prst="rect">
            <a:avLst/>
          </a:prstGeom>
          <a:noFill/>
          <a:ln/>
        </p:spPr>
        <p:txBody>
          <a:bodyPr wrap="square" lIns="0" tIns="0" rIns="0" bIns="0" rtlCol="0" anchor="ctr"/>
          <a:lstStyle/>
          <a:p>
            <a:pPr algn="ctr" indent="0" marL="0">
              <a:buNone/>
            </a:pPr>
            <a:r>
              <a:rPr lang="en-US" sz="950" b="1" spc="200" kern="0" dirty="0">
                <a:solidFill>
                  <a:srgbClr val="00E5FF"/>
                </a:solidFill>
                <a:latin typeface="Calibri" pitchFamily="34" charset="0"/>
                <a:ea typeface="Calibri" pitchFamily="34" charset="-122"/>
                <a:cs typeface="Calibri" pitchFamily="34" charset="-120"/>
              </a:rPr>
              <a:t>FRONTEND</a:t>
            </a:r>
            <a:endParaRPr lang="en-US" sz="950" dirty="0"/>
          </a:p>
        </p:txBody>
      </p:sp>
      <p:sp>
        <p:nvSpPr>
          <p:cNvPr id="7" name="Shape 5"/>
          <p:cNvSpPr/>
          <p:nvPr/>
        </p:nvSpPr>
        <p:spPr>
          <a:xfrm>
            <a:off x="429768" y="1664208"/>
            <a:ext cx="1371600" cy="548640"/>
          </a:xfrm>
          <a:prstGeom prst="rect">
            <a:avLst/>
          </a:prstGeom>
          <a:solidFill>
            <a:srgbClr val="06090F"/>
          </a:solidFill>
          <a:ln w="12700">
            <a:solidFill>
              <a:srgbClr val="1C2D42"/>
            </a:solidFill>
            <a:prstDash val="solid"/>
          </a:ln>
        </p:spPr>
      </p:sp>
      <p:sp>
        <p:nvSpPr>
          <p:cNvPr id="8" name="Text 6"/>
          <p:cNvSpPr/>
          <p:nvPr/>
        </p:nvSpPr>
        <p:spPr>
          <a:xfrm>
            <a:off x="429768" y="16642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MapLibre GL</a:t>
            </a:r>
            <a:endParaRPr lang="en-US" sz="1000" dirty="0"/>
          </a:p>
        </p:txBody>
      </p:sp>
      <p:sp>
        <p:nvSpPr>
          <p:cNvPr id="9" name="Shape 7"/>
          <p:cNvSpPr/>
          <p:nvPr/>
        </p:nvSpPr>
        <p:spPr>
          <a:xfrm>
            <a:off x="429768" y="2350008"/>
            <a:ext cx="1371600" cy="548640"/>
          </a:xfrm>
          <a:prstGeom prst="rect">
            <a:avLst/>
          </a:prstGeom>
          <a:solidFill>
            <a:srgbClr val="06090F"/>
          </a:solidFill>
          <a:ln w="12700">
            <a:solidFill>
              <a:srgbClr val="1C2D42"/>
            </a:solidFill>
            <a:prstDash val="solid"/>
          </a:ln>
        </p:spPr>
      </p:sp>
      <p:sp>
        <p:nvSpPr>
          <p:cNvPr id="10" name="Text 8"/>
          <p:cNvSpPr/>
          <p:nvPr/>
        </p:nvSpPr>
        <p:spPr>
          <a:xfrm>
            <a:off x="429768" y="23500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Chart.js</a:t>
            </a:r>
            <a:endParaRPr lang="en-US" sz="1000" dirty="0"/>
          </a:p>
        </p:txBody>
      </p:sp>
      <p:sp>
        <p:nvSpPr>
          <p:cNvPr id="11" name="Shape 9"/>
          <p:cNvSpPr/>
          <p:nvPr/>
        </p:nvSpPr>
        <p:spPr>
          <a:xfrm>
            <a:off x="429768" y="3035808"/>
            <a:ext cx="1371600" cy="548640"/>
          </a:xfrm>
          <a:prstGeom prst="rect">
            <a:avLst/>
          </a:prstGeom>
          <a:solidFill>
            <a:srgbClr val="06090F"/>
          </a:solidFill>
          <a:ln w="12700">
            <a:solidFill>
              <a:srgbClr val="1C2D42"/>
            </a:solidFill>
            <a:prstDash val="solid"/>
          </a:ln>
        </p:spPr>
      </p:sp>
      <p:sp>
        <p:nvSpPr>
          <p:cNvPr id="12" name="Text 10"/>
          <p:cNvSpPr/>
          <p:nvPr/>
        </p:nvSpPr>
        <p:spPr>
          <a:xfrm>
            <a:off x="429768" y="30358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Vanilla JS</a:t>
            </a:r>
            <a:endParaRPr lang="en-US" sz="1000" dirty="0"/>
          </a:p>
        </p:txBody>
      </p:sp>
      <p:sp>
        <p:nvSpPr>
          <p:cNvPr id="13" name="Shape 11"/>
          <p:cNvSpPr/>
          <p:nvPr/>
        </p:nvSpPr>
        <p:spPr>
          <a:xfrm>
            <a:off x="429768" y="3721608"/>
            <a:ext cx="1371600" cy="548640"/>
          </a:xfrm>
          <a:prstGeom prst="rect">
            <a:avLst/>
          </a:prstGeom>
          <a:solidFill>
            <a:srgbClr val="06090F"/>
          </a:solidFill>
          <a:ln w="12700">
            <a:solidFill>
              <a:srgbClr val="1C2D42"/>
            </a:solidFill>
            <a:prstDash val="solid"/>
          </a:ln>
        </p:spPr>
      </p:sp>
      <p:sp>
        <p:nvSpPr>
          <p:cNvPr id="14" name="Text 12"/>
          <p:cNvSpPr/>
          <p:nvPr/>
        </p:nvSpPr>
        <p:spPr>
          <a:xfrm>
            <a:off x="429768" y="37216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CSS Custom Properties</a:t>
            </a:r>
            <a:endParaRPr lang="en-US" sz="1000" dirty="0"/>
          </a:p>
        </p:txBody>
      </p:sp>
      <p:sp>
        <p:nvSpPr>
          <p:cNvPr id="15" name="Shape 13"/>
          <p:cNvSpPr/>
          <p:nvPr/>
        </p:nvSpPr>
        <p:spPr>
          <a:xfrm>
            <a:off x="2039112" y="960120"/>
            <a:ext cx="1600200" cy="384048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16" name="Shape 14"/>
          <p:cNvSpPr/>
          <p:nvPr/>
        </p:nvSpPr>
        <p:spPr>
          <a:xfrm>
            <a:off x="2039112" y="960120"/>
            <a:ext cx="1600200" cy="64008"/>
          </a:xfrm>
          <a:prstGeom prst="rect">
            <a:avLst/>
          </a:prstGeom>
          <a:solidFill>
            <a:srgbClr val="A855F7"/>
          </a:solidFill>
          <a:ln w="12700">
            <a:solidFill>
              <a:srgbClr val="A855F7"/>
            </a:solidFill>
            <a:prstDash val="solid"/>
          </a:ln>
        </p:spPr>
      </p:sp>
      <p:sp>
        <p:nvSpPr>
          <p:cNvPr id="17" name="Text 15"/>
          <p:cNvSpPr/>
          <p:nvPr/>
        </p:nvSpPr>
        <p:spPr>
          <a:xfrm>
            <a:off x="2039112" y="1143000"/>
            <a:ext cx="1600200" cy="347472"/>
          </a:xfrm>
          <a:prstGeom prst="rect">
            <a:avLst/>
          </a:prstGeom>
          <a:noFill/>
          <a:ln/>
        </p:spPr>
        <p:txBody>
          <a:bodyPr wrap="square" lIns="0" tIns="0" rIns="0" bIns="0" rtlCol="0" anchor="ctr"/>
          <a:lstStyle/>
          <a:p>
            <a:pPr algn="ctr" indent="0" marL="0">
              <a:buNone/>
            </a:pPr>
            <a:r>
              <a:rPr lang="en-US" sz="950" b="1" spc="200" kern="0" dirty="0">
                <a:solidFill>
                  <a:srgbClr val="A855F7"/>
                </a:solidFill>
                <a:latin typeface="Calibri" pitchFamily="34" charset="0"/>
                <a:ea typeface="Calibri" pitchFamily="34" charset="-122"/>
                <a:cs typeface="Calibri" pitchFamily="34" charset="-120"/>
              </a:rPr>
              <a:t>BACKEND</a:t>
            </a:r>
            <a:endParaRPr lang="en-US" sz="950" dirty="0"/>
          </a:p>
        </p:txBody>
      </p:sp>
      <p:sp>
        <p:nvSpPr>
          <p:cNvPr id="18" name="Shape 16"/>
          <p:cNvSpPr/>
          <p:nvPr/>
        </p:nvSpPr>
        <p:spPr>
          <a:xfrm>
            <a:off x="2148840" y="1664208"/>
            <a:ext cx="1371600" cy="548640"/>
          </a:xfrm>
          <a:prstGeom prst="rect">
            <a:avLst/>
          </a:prstGeom>
          <a:solidFill>
            <a:srgbClr val="06090F"/>
          </a:solidFill>
          <a:ln w="12700">
            <a:solidFill>
              <a:srgbClr val="1C2D42"/>
            </a:solidFill>
            <a:prstDash val="solid"/>
          </a:ln>
        </p:spPr>
      </p:sp>
      <p:sp>
        <p:nvSpPr>
          <p:cNvPr id="19" name="Text 17"/>
          <p:cNvSpPr/>
          <p:nvPr/>
        </p:nvSpPr>
        <p:spPr>
          <a:xfrm>
            <a:off x="2148840" y="16642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FastAPI (Python)</a:t>
            </a:r>
            <a:endParaRPr lang="en-US" sz="1000" dirty="0"/>
          </a:p>
        </p:txBody>
      </p:sp>
      <p:sp>
        <p:nvSpPr>
          <p:cNvPr id="20" name="Shape 18"/>
          <p:cNvSpPr/>
          <p:nvPr/>
        </p:nvSpPr>
        <p:spPr>
          <a:xfrm>
            <a:off x="2148840" y="2350008"/>
            <a:ext cx="1371600" cy="548640"/>
          </a:xfrm>
          <a:prstGeom prst="rect">
            <a:avLst/>
          </a:prstGeom>
          <a:solidFill>
            <a:srgbClr val="06090F"/>
          </a:solidFill>
          <a:ln w="12700">
            <a:solidFill>
              <a:srgbClr val="1C2D42"/>
            </a:solidFill>
            <a:prstDash val="solid"/>
          </a:ln>
        </p:spPr>
      </p:sp>
      <p:sp>
        <p:nvSpPr>
          <p:cNvPr id="21" name="Text 19"/>
          <p:cNvSpPr/>
          <p:nvPr/>
        </p:nvSpPr>
        <p:spPr>
          <a:xfrm>
            <a:off x="2148840" y="23500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Uvicorn ASGI</a:t>
            </a:r>
            <a:endParaRPr lang="en-US" sz="1000" dirty="0"/>
          </a:p>
        </p:txBody>
      </p:sp>
      <p:sp>
        <p:nvSpPr>
          <p:cNvPr id="22" name="Shape 20"/>
          <p:cNvSpPr/>
          <p:nvPr/>
        </p:nvSpPr>
        <p:spPr>
          <a:xfrm>
            <a:off x="2148840" y="3035808"/>
            <a:ext cx="1371600" cy="548640"/>
          </a:xfrm>
          <a:prstGeom prst="rect">
            <a:avLst/>
          </a:prstGeom>
          <a:solidFill>
            <a:srgbClr val="06090F"/>
          </a:solidFill>
          <a:ln w="12700">
            <a:solidFill>
              <a:srgbClr val="1C2D42"/>
            </a:solidFill>
            <a:prstDash val="solid"/>
          </a:ln>
        </p:spPr>
      </p:sp>
      <p:sp>
        <p:nvSpPr>
          <p:cNvPr id="23" name="Text 21"/>
          <p:cNvSpPr/>
          <p:nvPr/>
        </p:nvSpPr>
        <p:spPr>
          <a:xfrm>
            <a:off x="2148840" y="30358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Pandas + NumPy</a:t>
            </a:r>
            <a:endParaRPr lang="en-US" sz="1000" dirty="0"/>
          </a:p>
        </p:txBody>
      </p:sp>
      <p:sp>
        <p:nvSpPr>
          <p:cNvPr id="24" name="Shape 22"/>
          <p:cNvSpPr/>
          <p:nvPr/>
        </p:nvSpPr>
        <p:spPr>
          <a:xfrm>
            <a:off x="2148840" y="3721608"/>
            <a:ext cx="1371600" cy="548640"/>
          </a:xfrm>
          <a:prstGeom prst="rect">
            <a:avLst/>
          </a:prstGeom>
          <a:solidFill>
            <a:srgbClr val="06090F"/>
          </a:solidFill>
          <a:ln w="12700">
            <a:solidFill>
              <a:srgbClr val="1C2D42"/>
            </a:solidFill>
            <a:prstDash val="solid"/>
          </a:ln>
        </p:spPr>
      </p:sp>
      <p:sp>
        <p:nvSpPr>
          <p:cNvPr id="25" name="Text 23"/>
          <p:cNvSpPr/>
          <p:nvPr/>
        </p:nvSpPr>
        <p:spPr>
          <a:xfrm>
            <a:off x="2148840" y="37216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REST API</a:t>
            </a:r>
            <a:endParaRPr lang="en-US" sz="1000" dirty="0"/>
          </a:p>
        </p:txBody>
      </p:sp>
      <p:sp>
        <p:nvSpPr>
          <p:cNvPr id="26" name="Shape 24"/>
          <p:cNvSpPr/>
          <p:nvPr/>
        </p:nvSpPr>
        <p:spPr>
          <a:xfrm>
            <a:off x="3758184" y="960120"/>
            <a:ext cx="1600200" cy="384048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27" name="Shape 25"/>
          <p:cNvSpPr/>
          <p:nvPr/>
        </p:nvSpPr>
        <p:spPr>
          <a:xfrm>
            <a:off x="3758184" y="960120"/>
            <a:ext cx="1600200" cy="64008"/>
          </a:xfrm>
          <a:prstGeom prst="rect">
            <a:avLst/>
          </a:prstGeom>
          <a:solidFill>
            <a:srgbClr val="FF3B3B"/>
          </a:solidFill>
          <a:ln w="12700">
            <a:solidFill>
              <a:srgbClr val="FF3B3B"/>
            </a:solidFill>
            <a:prstDash val="solid"/>
          </a:ln>
        </p:spPr>
      </p:sp>
      <p:sp>
        <p:nvSpPr>
          <p:cNvPr id="28" name="Text 26"/>
          <p:cNvSpPr/>
          <p:nvPr/>
        </p:nvSpPr>
        <p:spPr>
          <a:xfrm>
            <a:off x="3758184" y="1143000"/>
            <a:ext cx="1600200" cy="347472"/>
          </a:xfrm>
          <a:prstGeom prst="rect">
            <a:avLst/>
          </a:prstGeom>
          <a:noFill/>
          <a:ln/>
        </p:spPr>
        <p:txBody>
          <a:bodyPr wrap="square" lIns="0" tIns="0" rIns="0" bIns="0" rtlCol="0" anchor="ctr"/>
          <a:lstStyle/>
          <a:p>
            <a:pPr algn="ctr" indent="0" marL="0">
              <a:buNone/>
            </a:pPr>
            <a:r>
              <a:rPr lang="en-US" sz="950" b="1" spc="200" kern="0" dirty="0">
                <a:solidFill>
                  <a:srgbClr val="FF3B3B"/>
                </a:solidFill>
                <a:latin typeface="Calibri" pitchFamily="34" charset="0"/>
                <a:ea typeface="Calibri" pitchFamily="34" charset="-122"/>
                <a:cs typeface="Calibri" pitchFamily="34" charset="-120"/>
              </a:rPr>
              <a:t>ML / AI</a:t>
            </a:r>
            <a:endParaRPr lang="en-US" sz="950" dirty="0"/>
          </a:p>
        </p:txBody>
      </p:sp>
      <p:sp>
        <p:nvSpPr>
          <p:cNvPr id="29" name="Shape 27"/>
          <p:cNvSpPr/>
          <p:nvPr/>
        </p:nvSpPr>
        <p:spPr>
          <a:xfrm>
            <a:off x="3867912" y="1664208"/>
            <a:ext cx="1371600" cy="548640"/>
          </a:xfrm>
          <a:prstGeom prst="rect">
            <a:avLst/>
          </a:prstGeom>
          <a:solidFill>
            <a:srgbClr val="06090F"/>
          </a:solidFill>
          <a:ln w="12700">
            <a:solidFill>
              <a:srgbClr val="1C2D42"/>
            </a:solidFill>
            <a:prstDash val="solid"/>
          </a:ln>
        </p:spPr>
      </p:sp>
      <p:sp>
        <p:nvSpPr>
          <p:cNvPr id="30" name="Text 28"/>
          <p:cNvSpPr/>
          <p:nvPr/>
        </p:nvSpPr>
        <p:spPr>
          <a:xfrm>
            <a:off x="3867912" y="16642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Isolation Forest</a:t>
            </a:r>
            <a:endParaRPr lang="en-US" sz="1000" dirty="0"/>
          </a:p>
        </p:txBody>
      </p:sp>
      <p:sp>
        <p:nvSpPr>
          <p:cNvPr id="31" name="Shape 29"/>
          <p:cNvSpPr/>
          <p:nvPr/>
        </p:nvSpPr>
        <p:spPr>
          <a:xfrm>
            <a:off x="3867912" y="2350008"/>
            <a:ext cx="1371600" cy="548640"/>
          </a:xfrm>
          <a:prstGeom prst="rect">
            <a:avLst/>
          </a:prstGeom>
          <a:solidFill>
            <a:srgbClr val="06090F"/>
          </a:solidFill>
          <a:ln w="12700">
            <a:solidFill>
              <a:srgbClr val="1C2D42"/>
            </a:solidFill>
            <a:prstDash val="solid"/>
          </a:ln>
        </p:spPr>
      </p:sp>
      <p:sp>
        <p:nvSpPr>
          <p:cNvPr id="32" name="Text 30"/>
          <p:cNvSpPr/>
          <p:nvPr/>
        </p:nvSpPr>
        <p:spPr>
          <a:xfrm>
            <a:off x="3867912" y="23500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StandardScaler</a:t>
            </a:r>
            <a:endParaRPr lang="en-US" sz="1000" dirty="0"/>
          </a:p>
        </p:txBody>
      </p:sp>
      <p:sp>
        <p:nvSpPr>
          <p:cNvPr id="33" name="Shape 31"/>
          <p:cNvSpPr/>
          <p:nvPr/>
        </p:nvSpPr>
        <p:spPr>
          <a:xfrm>
            <a:off x="3867912" y="3035808"/>
            <a:ext cx="1371600" cy="548640"/>
          </a:xfrm>
          <a:prstGeom prst="rect">
            <a:avLst/>
          </a:prstGeom>
          <a:solidFill>
            <a:srgbClr val="06090F"/>
          </a:solidFill>
          <a:ln w="12700">
            <a:solidFill>
              <a:srgbClr val="1C2D42"/>
            </a:solidFill>
            <a:prstDash val="solid"/>
          </a:ln>
        </p:spPr>
      </p:sp>
      <p:sp>
        <p:nvSpPr>
          <p:cNvPr id="34" name="Text 32"/>
          <p:cNvSpPr/>
          <p:nvPr/>
        </p:nvSpPr>
        <p:spPr>
          <a:xfrm>
            <a:off x="3867912" y="30358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Rolling Forecast</a:t>
            </a:r>
            <a:endParaRPr lang="en-US" sz="1000" dirty="0"/>
          </a:p>
        </p:txBody>
      </p:sp>
      <p:sp>
        <p:nvSpPr>
          <p:cNvPr id="35" name="Shape 33"/>
          <p:cNvSpPr/>
          <p:nvPr/>
        </p:nvSpPr>
        <p:spPr>
          <a:xfrm>
            <a:off x="3867912" y="3721608"/>
            <a:ext cx="1371600" cy="548640"/>
          </a:xfrm>
          <a:prstGeom prst="rect">
            <a:avLst/>
          </a:prstGeom>
          <a:solidFill>
            <a:srgbClr val="06090F"/>
          </a:solidFill>
          <a:ln w="12700">
            <a:solidFill>
              <a:srgbClr val="1C2D42"/>
            </a:solidFill>
            <a:prstDash val="solid"/>
          </a:ln>
        </p:spPr>
      </p:sp>
      <p:sp>
        <p:nvSpPr>
          <p:cNvPr id="36" name="Text 34"/>
          <p:cNvSpPr/>
          <p:nvPr/>
        </p:nvSpPr>
        <p:spPr>
          <a:xfrm>
            <a:off x="3867912" y="37216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NLP Engine</a:t>
            </a:r>
            <a:endParaRPr lang="en-US" sz="1000" dirty="0"/>
          </a:p>
        </p:txBody>
      </p:sp>
      <p:sp>
        <p:nvSpPr>
          <p:cNvPr id="37" name="Shape 35"/>
          <p:cNvSpPr/>
          <p:nvPr/>
        </p:nvSpPr>
        <p:spPr>
          <a:xfrm>
            <a:off x="5477256" y="960120"/>
            <a:ext cx="1600200" cy="384048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38" name="Shape 36"/>
          <p:cNvSpPr/>
          <p:nvPr/>
        </p:nvSpPr>
        <p:spPr>
          <a:xfrm>
            <a:off x="5477256" y="960120"/>
            <a:ext cx="1600200" cy="64008"/>
          </a:xfrm>
          <a:prstGeom prst="rect">
            <a:avLst/>
          </a:prstGeom>
          <a:solidFill>
            <a:srgbClr val="00FF88"/>
          </a:solidFill>
          <a:ln w="12700">
            <a:solidFill>
              <a:srgbClr val="00FF88"/>
            </a:solidFill>
            <a:prstDash val="solid"/>
          </a:ln>
        </p:spPr>
      </p:sp>
      <p:sp>
        <p:nvSpPr>
          <p:cNvPr id="39" name="Text 37"/>
          <p:cNvSpPr/>
          <p:nvPr/>
        </p:nvSpPr>
        <p:spPr>
          <a:xfrm>
            <a:off x="5477256" y="1143000"/>
            <a:ext cx="1600200" cy="347472"/>
          </a:xfrm>
          <a:prstGeom prst="rect">
            <a:avLst/>
          </a:prstGeom>
          <a:noFill/>
          <a:ln/>
        </p:spPr>
        <p:txBody>
          <a:bodyPr wrap="square" lIns="0" tIns="0" rIns="0" bIns="0" rtlCol="0" anchor="ctr"/>
          <a:lstStyle/>
          <a:p>
            <a:pPr algn="ctr" indent="0" marL="0">
              <a:buNone/>
            </a:pPr>
            <a:r>
              <a:rPr lang="en-US" sz="950" b="1" spc="200" kern="0" dirty="0">
                <a:solidFill>
                  <a:srgbClr val="00FF88"/>
                </a:solidFill>
                <a:latin typeface="Calibri" pitchFamily="34" charset="0"/>
                <a:ea typeface="Calibri" pitchFamily="34" charset="-122"/>
                <a:cs typeface="Calibri" pitchFamily="34" charset="-120"/>
              </a:rPr>
              <a:t>MOBILE</a:t>
            </a:r>
            <a:endParaRPr lang="en-US" sz="950" dirty="0"/>
          </a:p>
        </p:txBody>
      </p:sp>
      <p:sp>
        <p:nvSpPr>
          <p:cNvPr id="40" name="Shape 38"/>
          <p:cNvSpPr/>
          <p:nvPr/>
        </p:nvSpPr>
        <p:spPr>
          <a:xfrm>
            <a:off x="5586984" y="1664208"/>
            <a:ext cx="1371600" cy="548640"/>
          </a:xfrm>
          <a:prstGeom prst="rect">
            <a:avLst/>
          </a:prstGeom>
          <a:solidFill>
            <a:srgbClr val="06090F"/>
          </a:solidFill>
          <a:ln w="12700">
            <a:solidFill>
              <a:srgbClr val="1C2D42"/>
            </a:solidFill>
            <a:prstDash val="solid"/>
          </a:ln>
        </p:spPr>
      </p:sp>
      <p:sp>
        <p:nvSpPr>
          <p:cNvPr id="41" name="Text 39"/>
          <p:cNvSpPr/>
          <p:nvPr/>
        </p:nvSpPr>
        <p:spPr>
          <a:xfrm>
            <a:off x="5586984" y="16642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Flutter 3</a:t>
            </a:r>
            <a:endParaRPr lang="en-US" sz="1000" dirty="0"/>
          </a:p>
        </p:txBody>
      </p:sp>
      <p:sp>
        <p:nvSpPr>
          <p:cNvPr id="42" name="Shape 40"/>
          <p:cNvSpPr/>
          <p:nvPr/>
        </p:nvSpPr>
        <p:spPr>
          <a:xfrm>
            <a:off x="5586984" y="2350008"/>
            <a:ext cx="1371600" cy="548640"/>
          </a:xfrm>
          <a:prstGeom prst="rect">
            <a:avLst/>
          </a:prstGeom>
          <a:solidFill>
            <a:srgbClr val="06090F"/>
          </a:solidFill>
          <a:ln w="12700">
            <a:solidFill>
              <a:srgbClr val="1C2D42"/>
            </a:solidFill>
            <a:prstDash val="solid"/>
          </a:ln>
        </p:spPr>
      </p:sp>
      <p:sp>
        <p:nvSpPr>
          <p:cNvPr id="43" name="Text 41"/>
          <p:cNvSpPr/>
          <p:nvPr/>
        </p:nvSpPr>
        <p:spPr>
          <a:xfrm>
            <a:off x="5586984" y="23500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Dart</a:t>
            </a:r>
            <a:endParaRPr lang="en-US" sz="1000" dirty="0"/>
          </a:p>
        </p:txBody>
      </p:sp>
      <p:sp>
        <p:nvSpPr>
          <p:cNvPr id="44" name="Shape 42"/>
          <p:cNvSpPr/>
          <p:nvPr/>
        </p:nvSpPr>
        <p:spPr>
          <a:xfrm>
            <a:off x="5586984" y="3035808"/>
            <a:ext cx="1371600" cy="548640"/>
          </a:xfrm>
          <a:prstGeom prst="rect">
            <a:avLst/>
          </a:prstGeom>
          <a:solidFill>
            <a:srgbClr val="06090F"/>
          </a:solidFill>
          <a:ln w="12700">
            <a:solidFill>
              <a:srgbClr val="1C2D42"/>
            </a:solidFill>
            <a:prstDash val="solid"/>
          </a:ln>
        </p:spPr>
      </p:sp>
      <p:sp>
        <p:nvSpPr>
          <p:cNvPr id="45" name="Text 43"/>
          <p:cNvSpPr/>
          <p:nvPr/>
        </p:nvSpPr>
        <p:spPr>
          <a:xfrm>
            <a:off x="5586984" y="30358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Material 3</a:t>
            </a:r>
            <a:endParaRPr lang="en-US" sz="1000" dirty="0"/>
          </a:p>
        </p:txBody>
      </p:sp>
      <p:sp>
        <p:nvSpPr>
          <p:cNvPr id="46" name="Shape 44"/>
          <p:cNvSpPr/>
          <p:nvPr/>
        </p:nvSpPr>
        <p:spPr>
          <a:xfrm>
            <a:off x="5586984" y="3721608"/>
            <a:ext cx="1371600" cy="548640"/>
          </a:xfrm>
          <a:prstGeom prst="rect">
            <a:avLst/>
          </a:prstGeom>
          <a:solidFill>
            <a:srgbClr val="06090F"/>
          </a:solidFill>
          <a:ln w="12700">
            <a:solidFill>
              <a:srgbClr val="1C2D42"/>
            </a:solidFill>
            <a:prstDash val="solid"/>
          </a:ln>
        </p:spPr>
      </p:sp>
      <p:sp>
        <p:nvSpPr>
          <p:cNvPr id="47" name="Text 45"/>
          <p:cNvSpPr/>
          <p:nvPr/>
        </p:nvSpPr>
        <p:spPr>
          <a:xfrm>
            <a:off x="5586984" y="37216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Multi-platform</a:t>
            </a:r>
            <a:endParaRPr lang="en-US" sz="1000" dirty="0"/>
          </a:p>
        </p:txBody>
      </p:sp>
      <p:sp>
        <p:nvSpPr>
          <p:cNvPr id="48" name="Shape 46"/>
          <p:cNvSpPr/>
          <p:nvPr/>
        </p:nvSpPr>
        <p:spPr>
          <a:xfrm>
            <a:off x="7196328" y="960120"/>
            <a:ext cx="1600200" cy="384048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49" name="Shape 47"/>
          <p:cNvSpPr/>
          <p:nvPr/>
        </p:nvSpPr>
        <p:spPr>
          <a:xfrm>
            <a:off x="7196328" y="960120"/>
            <a:ext cx="1600200" cy="64008"/>
          </a:xfrm>
          <a:prstGeom prst="rect">
            <a:avLst/>
          </a:prstGeom>
          <a:solidFill>
            <a:srgbClr val="FFD60A"/>
          </a:solidFill>
          <a:ln w="12700">
            <a:solidFill>
              <a:srgbClr val="FFD60A"/>
            </a:solidFill>
            <a:prstDash val="solid"/>
          </a:ln>
        </p:spPr>
      </p:sp>
      <p:sp>
        <p:nvSpPr>
          <p:cNvPr id="50" name="Text 48"/>
          <p:cNvSpPr/>
          <p:nvPr/>
        </p:nvSpPr>
        <p:spPr>
          <a:xfrm>
            <a:off x="7196328" y="1143000"/>
            <a:ext cx="1600200" cy="347472"/>
          </a:xfrm>
          <a:prstGeom prst="rect">
            <a:avLst/>
          </a:prstGeom>
          <a:noFill/>
          <a:ln/>
        </p:spPr>
        <p:txBody>
          <a:bodyPr wrap="square" lIns="0" tIns="0" rIns="0" bIns="0" rtlCol="0" anchor="ctr"/>
          <a:lstStyle/>
          <a:p>
            <a:pPr algn="ctr" indent="0" marL="0">
              <a:buNone/>
            </a:pPr>
            <a:r>
              <a:rPr lang="en-US" sz="950" b="1" spc="200" kern="0" dirty="0">
                <a:solidFill>
                  <a:srgbClr val="FFD60A"/>
                </a:solidFill>
                <a:latin typeface="Calibri" pitchFamily="34" charset="0"/>
                <a:ea typeface="Calibri" pitchFamily="34" charset="-122"/>
                <a:cs typeface="Calibri" pitchFamily="34" charset="-120"/>
              </a:rPr>
              <a:t>DATA</a:t>
            </a:r>
            <a:endParaRPr lang="en-US" sz="950" dirty="0"/>
          </a:p>
        </p:txBody>
      </p:sp>
      <p:sp>
        <p:nvSpPr>
          <p:cNvPr id="51" name="Shape 49"/>
          <p:cNvSpPr/>
          <p:nvPr/>
        </p:nvSpPr>
        <p:spPr>
          <a:xfrm>
            <a:off x="7306056" y="1664208"/>
            <a:ext cx="1371600" cy="548640"/>
          </a:xfrm>
          <a:prstGeom prst="rect">
            <a:avLst/>
          </a:prstGeom>
          <a:solidFill>
            <a:srgbClr val="06090F"/>
          </a:solidFill>
          <a:ln w="12700">
            <a:solidFill>
              <a:srgbClr val="1C2D42"/>
            </a:solidFill>
            <a:prstDash val="solid"/>
          </a:ln>
        </p:spPr>
      </p:sp>
      <p:sp>
        <p:nvSpPr>
          <p:cNvPr id="52" name="Text 50"/>
          <p:cNvSpPr/>
          <p:nvPr/>
        </p:nvSpPr>
        <p:spPr>
          <a:xfrm>
            <a:off x="7306056" y="16642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CSV ingest API</a:t>
            </a:r>
            <a:endParaRPr lang="en-US" sz="1000" dirty="0"/>
          </a:p>
        </p:txBody>
      </p:sp>
      <p:sp>
        <p:nvSpPr>
          <p:cNvPr id="53" name="Shape 51"/>
          <p:cNvSpPr/>
          <p:nvPr/>
        </p:nvSpPr>
        <p:spPr>
          <a:xfrm>
            <a:off x="7306056" y="2350008"/>
            <a:ext cx="1371600" cy="548640"/>
          </a:xfrm>
          <a:prstGeom prst="rect">
            <a:avLst/>
          </a:prstGeom>
          <a:solidFill>
            <a:srgbClr val="06090F"/>
          </a:solidFill>
          <a:ln w="12700">
            <a:solidFill>
              <a:srgbClr val="1C2D42"/>
            </a:solidFill>
            <a:prstDash val="solid"/>
          </a:ln>
        </p:spPr>
      </p:sp>
      <p:sp>
        <p:nvSpPr>
          <p:cNvPr id="54" name="Text 52"/>
          <p:cNvSpPr/>
          <p:nvPr/>
        </p:nvSpPr>
        <p:spPr>
          <a:xfrm>
            <a:off x="7306056" y="23500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8 Zones · 7 Days</a:t>
            </a:r>
            <a:endParaRPr lang="en-US" sz="1000" dirty="0"/>
          </a:p>
        </p:txBody>
      </p:sp>
      <p:sp>
        <p:nvSpPr>
          <p:cNvPr id="55" name="Shape 53"/>
          <p:cNvSpPr/>
          <p:nvPr/>
        </p:nvSpPr>
        <p:spPr>
          <a:xfrm>
            <a:off x="7306056" y="3035808"/>
            <a:ext cx="1371600" cy="548640"/>
          </a:xfrm>
          <a:prstGeom prst="rect">
            <a:avLst/>
          </a:prstGeom>
          <a:solidFill>
            <a:srgbClr val="06090F"/>
          </a:solidFill>
          <a:ln w="12700">
            <a:solidFill>
              <a:srgbClr val="1C2D42"/>
            </a:solidFill>
            <a:prstDash val="solid"/>
          </a:ln>
        </p:spPr>
      </p:sp>
      <p:sp>
        <p:nvSpPr>
          <p:cNvPr id="56" name="Text 54"/>
          <p:cNvSpPr/>
          <p:nvPr/>
        </p:nvSpPr>
        <p:spPr>
          <a:xfrm>
            <a:off x="7306056" y="30358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5 Metrics</a:t>
            </a:r>
            <a:endParaRPr lang="en-US" sz="1000" dirty="0"/>
          </a:p>
        </p:txBody>
      </p:sp>
      <p:sp>
        <p:nvSpPr>
          <p:cNvPr id="57" name="Shape 55"/>
          <p:cNvSpPr/>
          <p:nvPr/>
        </p:nvSpPr>
        <p:spPr>
          <a:xfrm>
            <a:off x="7306056" y="3721608"/>
            <a:ext cx="1371600" cy="548640"/>
          </a:xfrm>
          <a:prstGeom prst="rect">
            <a:avLst/>
          </a:prstGeom>
          <a:solidFill>
            <a:srgbClr val="06090F"/>
          </a:solidFill>
          <a:ln w="12700">
            <a:solidFill>
              <a:srgbClr val="1C2D42"/>
            </a:solidFill>
            <a:prstDash val="solid"/>
          </a:ln>
        </p:spPr>
      </p:sp>
      <p:sp>
        <p:nvSpPr>
          <p:cNvPr id="58" name="Text 56"/>
          <p:cNvSpPr/>
          <p:nvPr/>
        </p:nvSpPr>
        <p:spPr>
          <a:xfrm>
            <a:off x="7306056" y="3721608"/>
            <a:ext cx="1371600" cy="548640"/>
          </a:xfrm>
          <a:prstGeom prst="rect">
            <a:avLst/>
          </a:prstGeom>
          <a:noFill/>
          <a:ln/>
        </p:spPr>
        <p:txBody>
          <a:bodyPr wrap="square" lIns="0" tIns="0" rIns="0" bIns="0" rtlCol="0" anchor="ctr"/>
          <a:lstStyle/>
          <a:p>
            <a:pPr algn="ctr" indent="0" marL="0">
              <a:buNone/>
            </a:pPr>
            <a:r>
              <a:rPr lang="en-US" sz="1000" dirty="0">
                <a:solidFill>
                  <a:srgbClr val="DCE8F5"/>
                </a:solidFill>
                <a:latin typeface="Calibri" pitchFamily="34" charset="0"/>
                <a:ea typeface="Calibri" pitchFamily="34" charset="-122"/>
                <a:cs typeface="Calibri" pitchFamily="34" charset="-120"/>
              </a:rPr>
              <a:t>1,344 Records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90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C1118"/>
          </a:solidFill>
          <a:ln w="12700">
            <a:solidFill>
              <a:srgbClr val="0C111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1200" b="1" spc="300" kern="0" dirty="0">
                <a:solidFill>
                  <a:srgbClr val="FF3B3B"/>
                </a:solidFill>
                <a:latin typeface="Calibri" pitchFamily="34" charset="0"/>
                <a:ea typeface="Calibri" pitchFamily="34" charset="-122"/>
                <a:cs typeface="Calibri" pitchFamily="34" charset="-120"/>
              </a:rPr>
              <a:t>REAL SCENARIO — 3AM IN MANISH NAGAR</a:t>
            </a:r>
            <a:endParaRPr lang="en-US" sz="1200" dirty="0"/>
          </a:p>
        </p:txBody>
      </p:sp>
      <p:sp>
        <p:nvSpPr>
          <p:cNvPr id="4" name="Shape 2"/>
          <p:cNvSpPr/>
          <p:nvPr/>
        </p:nvSpPr>
        <p:spPr>
          <a:xfrm>
            <a:off x="320040" y="1078992"/>
            <a:ext cx="777240" cy="347472"/>
          </a:xfrm>
          <a:prstGeom prst="rect">
            <a:avLst/>
          </a:prstGeom>
          <a:solidFill>
            <a:srgbClr val="111820"/>
          </a:solidFill>
          <a:ln w="12700">
            <a:solidFill>
              <a:srgbClr val="00B4D8"/>
            </a:solidFill>
            <a:prstDash val="solid"/>
          </a:ln>
        </p:spPr>
      </p:sp>
      <p:sp>
        <p:nvSpPr>
          <p:cNvPr id="5" name="Text 3"/>
          <p:cNvSpPr/>
          <p:nvPr/>
        </p:nvSpPr>
        <p:spPr>
          <a:xfrm>
            <a:off x="320040" y="1078992"/>
            <a:ext cx="777240" cy="347472"/>
          </a:xfrm>
          <a:prstGeom prst="rect">
            <a:avLst/>
          </a:prstGeom>
          <a:noFill/>
          <a:ln/>
        </p:spPr>
        <p:txBody>
          <a:bodyPr wrap="square" lIns="0" tIns="0" rIns="0" bIns="0" rtlCol="0" anchor="ctr"/>
          <a:lstStyle/>
          <a:p>
            <a:pPr algn="ctr" indent="0" marL="0">
              <a:buNone/>
            </a:pPr>
            <a:r>
              <a:rPr lang="en-US" sz="1100" b="1" dirty="0">
                <a:solidFill>
                  <a:srgbClr val="00B4D8"/>
                </a:solidFill>
                <a:latin typeface="Calibri" pitchFamily="34" charset="0"/>
                <a:ea typeface="Calibri" pitchFamily="34" charset="-122"/>
                <a:cs typeface="Calibri" pitchFamily="34" charset="-120"/>
              </a:rPr>
              <a:t>03:00</a:t>
            </a:r>
            <a:endParaRPr lang="en-US" sz="1100" dirty="0"/>
          </a:p>
        </p:txBody>
      </p:sp>
      <p:sp>
        <p:nvSpPr>
          <p:cNvPr id="6" name="Shape 4"/>
          <p:cNvSpPr/>
          <p:nvPr/>
        </p:nvSpPr>
        <p:spPr>
          <a:xfrm>
            <a:off x="676656" y="1426464"/>
            <a:ext cx="64008" cy="594360"/>
          </a:xfrm>
          <a:prstGeom prst="rect">
            <a:avLst/>
          </a:prstGeom>
          <a:solidFill>
            <a:srgbClr val="1C2D42"/>
          </a:solidFill>
          <a:ln w="12700">
            <a:solidFill>
              <a:srgbClr val="1C2D42"/>
            </a:solidFill>
            <a:prstDash val="solid"/>
          </a:ln>
        </p:spPr>
      </p:sp>
      <p:sp>
        <p:nvSpPr>
          <p:cNvPr id="7" name="Shape 5"/>
          <p:cNvSpPr/>
          <p:nvPr/>
        </p:nvSpPr>
        <p:spPr>
          <a:xfrm>
            <a:off x="1371600" y="1005840"/>
            <a:ext cx="7406640" cy="804672"/>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8" name="Shape 6"/>
          <p:cNvSpPr/>
          <p:nvPr/>
        </p:nvSpPr>
        <p:spPr>
          <a:xfrm>
            <a:off x="1371600" y="1005840"/>
            <a:ext cx="54864" cy="804672"/>
          </a:xfrm>
          <a:prstGeom prst="rect">
            <a:avLst/>
          </a:prstGeom>
          <a:solidFill>
            <a:srgbClr val="00B4D8"/>
          </a:solidFill>
          <a:ln w="12700">
            <a:solidFill>
              <a:srgbClr val="00B4D8"/>
            </a:solidFill>
            <a:prstDash val="solid"/>
          </a:ln>
        </p:spPr>
      </p:sp>
      <p:pic>
        <p:nvPicPr>
          <p:cNvPr id="9" name="Image 0" descr="preencoded.png">    </p:cNvPr>
          <p:cNvPicPr>
            <a:picLocks noChangeAspect="1"/>
          </p:cNvPicPr>
          <p:nvPr/>
        </p:nvPicPr>
        <p:blipFill>
          <a:blip r:embed="rId1"/>
          <a:stretch>
            <a:fillRect/>
          </a:stretch>
        </p:blipFill>
        <p:spPr>
          <a:xfrm>
            <a:off x="1554480" y="1188720"/>
            <a:ext cx="438912" cy="438912"/>
          </a:xfrm>
          <a:prstGeom prst="rect">
            <a:avLst/>
          </a:prstGeom>
        </p:spPr>
      </p:pic>
      <p:sp>
        <p:nvSpPr>
          <p:cNvPr id="10" name="Text 7"/>
          <p:cNvSpPr/>
          <p:nvPr/>
        </p:nvSpPr>
        <p:spPr>
          <a:xfrm>
            <a:off x="2121408" y="1097280"/>
            <a:ext cx="6492240" cy="320040"/>
          </a:xfrm>
          <a:prstGeom prst="rect">
            <a:avLst/>
          </a:prstGeom>
          <a:noFill/>
          <a:ln/>
        </p:spPr>
        <p:txBody>
          <a:bodyPr wrap="square" lIns="0" tIns="0" rIns="0" bIns="0"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Pipe bursts</a:t>
            </a:r>
            <a:endParaRPr lang="en-US" sz="1300" dirty="0"/>
          </a:p>
        </p:txBody>
      </p:sp>
      <p:sp>
        <p:nvSpPr>
          <p:cNvPr id="11" name="Text 8"/>
          <p:cNvSpPr/>
          <p:nvPr/>
        </p:nvSpPr>
        <p:spPr>
          <a:xfrm>
            <a:off x="2121408" y="1426464"/>
            <a:ext cx="6492240" cy="320040"/>
          </a:xfrm>
          <a:prstGeom prst="rect">
            <a:avLst/>
          </a:prstGeom>
          <a:noFill/>
          <a:ln/>
        </p:spPr>
        <p:txBody>
          <a:bodyPr wrap="square" lIns="0" tIns="0" rIns="0" bIns="0" rtlCol="0" anchor="ctr"/>
          <a:lstStyle/>
          <a:p>
            <a:pPr indent="0" marL="0">
              <a:buNone/>
            </a:pPr>
            <a:r>
              <a:rPr lang="en-US" sz="1150" dirty="0">
                <a:solidFill>
                  <a:srgbClr val="DCE8F5"/>
                </a:solidFill>
                <a:latin typeface="Calibri" pitchFamily="34" charset="0"/>
                <a:ea typeface="Calibri" pitchFamily="34" charset="-122"/>
                <a:cs typeface="Calibri" pitchFamily="34" charset="-120"/>
              </a:rPr>
              <a:t>Water consumption jumps from 1,200 to 5,400 L/hr in Zone 7</a:t>
            </a:r>
            <a:endParaRPr lang="en-US" sz="1150" dirty="0"/>
          </a:p>
        </p:txBody>
      </p:sp>
      <p:sp>
        <p:nvSpPr>
          <p:cNvPr id="12" name="Shape 9"/>
          <p:cNvSpPr/>
          <p:nvPr/>
        </p:nvSpPr>
        <p:spPr>
          <a:xfrm>
            <a:off x="320040" y="2039112"/>
            <a:ext cx="777240" cy="347472"/>
          </a:xfrm>
          <a:prstGeom prst="rect">
            <a:avLst/>
          </a:prstGeom>
          <a:solidFill>
            <a:srgbClr val="111820"/>
          </a:solidFill>
          <a:ln w="12700">
            <a:solidFill>
              <a:srgbClr val="FF3B3B"/>
            </a:solidFill>
            <a:prstDash val="solid"/>
          </a:ln>
        </p:spPr>
      </p:sp>
      <p:sp>
        <p:nvSpPr>
          <p:cNvPr id="13" name="Text 10"/>
          <p:cNvSpPr/>
          <p:nvPr/>
        </p:nvSpPr>
        <p:spPr>
          <a:xfrm>
            <a:off x="320040" y="2039112"/>
            <a:ext cx="777240" cy="347472"/>
          </a:xfrm>
          <a:prstGeom prst="rect">
            <a:avLst/>
          </a:prstGeom>
          <a:noFill/>
          <a:ln/>
        </p:spPr>
        <p:txBody>
          <a:bodyPr wrap="square" lIns="0" tIns="0" rIns="0" bIns="0" rtlCol="0" anchor="ctr"/>
          <a:lstStyle/>
          <a:p>
            <a:pPr algn="ctr" indent="0" marL="0">
              <a:buNone/>
            </a:pPr>
            <a:r>
              <a:rPr lang="en-US" sz="1100" b="1" dirty="0">
                <a:solidFill>
                  <a:srgbClr val="FF3B3B"/>
                </a:solidFill>
                <a:latin typeface="Calibri" pitchFamily="34" charset="0"/>
                <a:ea typeface="Calibri" pitchFamily="34" charset="-122"/>
                <a:cs typeface="Calibri" pitchFamily="34" charset="-120"/>
              </a:rPr>
              <a:t>03:01</a:t>
            </a:r>
            <a:endParaRPr lang="en-US" sz="1100" dirty="0"/>
          </a:p>
        </p:txBody>
      </p:sp>
      <p:sp>
        <p:nvSpPr>
          <p:cNvPr id="14" name="Shape 11"/>
          <p:cNvSpPr/>
          <p:nvPr/>
        </p:nvSpPr>
        <p:spPr>
          <a:xfrm>
            <a:off x="676656" y="2386584"/>
            <a:ext cx="64008" cy="594360"/>
          </a:xfrm>
          <a:prstGeom prst="rect">
            <a:avLst/>
          </a:prstGeom>
          <a:solidFill>
            <a:srgbClr val="1C2D42"/>
          </a:solidFill>
          <a:ln w="12700">
            <a:solidFill>
              <a:srgbClr val="1C2D42"/>
            </a:solidFill>
            <a:prstDash val="solid"/>
          </a:ln>
        </p:spPr>
      </p:sp>
      <p:sp>
        <p:nvSpPr>
          <p:cNvPr id="15" name="Shape 12"/>
          <p:cNvSpPr/>
          <p:nvPr/>
        </p:nvSpPr>
        <p:spPr>
          <a:xfrm>
            <a:off x="1371600" y="1965960"/>
            <a:ext cx="7406640" cy="804672"/>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16" name="Shape 13"/>
          <p:cNvSpPr/>
          <p:nvPr/>
        </p:nvSpPr>
        <p:spPr>
          <a:xfrm>
            <a:off x="1371600" y="1965960"/>
            <a:ext cx="54864" cy="804672"/>
          </a:xfrm>
          <a:prstGeom prst="rect">
            <a:avLst/>
          </a:prstGeom>
          <a:solidFill>
            <a:srgbClr val="FF3B3B"/>
          </a:solidFill>
          <a:ln w="12700">
            <a:solidFill>
              <a:srgbClr val="FF3B3B"/>
            </a:solidFill>
            <a:prstDash val="solid"/>
          </a:ln>
        </p:spPr>
      </p:sp>
      <p:pic>
        <p:nvPicPr>
          <p:cNvPr id="17" name="Image 1" descr="preencoded.png">    </p:cNvPr>
          <p:cNvPicPr>
            <a:picLocks noChangeAspect="1"/>
          </p:cNvPicPr>
          <p:nvPr/>
        </p:nvPicPr>
        <p:blipFill>
          <a:blip r:embed="rId2"/>
          <a:stretch>
            <a:fillRect/>
          </a:stretch>
        </p:blipFill>
        <p:spPr>
          <a:xfrm>
            <a:off x="1554480" y="2148840"/>
            <a:ext cx="438912" cy="438912"/>
          </a:xfrm>
          <a:prstGeom prst="rect">
            <a:avLst/>
          </a:prstGeom>
        </p:spPr>
      </p:pic>
      <p:sp>
        <p:nvSpPr>
          <p:cNvPr id="18" name="Text 14"/>
          <p:cNvSpPr/>
          <p:nvPr/>
        </p:nvSpPr>
        <p:spPr>
          <a:xfrm>
            <a:off x="2121408" y="2057400"/>
            <a:ext cx="6492240" cy="320040"/>
          </a:xfrm>
          <a:prstGeom prst="rect">
            <a:avLst/>
          </a:prstGeom>
          <a:noFill/>
          <a:ln/>
        </p:spPr>
        <p:txBody>
          <a:bodyPr wrap="square" lIns="0" tIns="0" rIns="0" bIns="0" rtlCol="0" anchor="ctr"/>
          <a:lstStyle/>
          <a:p>
            <a:pPr indent="0" marL="0">
              <a:buNone/>
            </a:pPr>
            <a:r>
              <a:rPr lang="en-US" sz="1300" b="1" dirty="0">
                <a:solidFill>
                  <a:srgbClr val="FF3B3B"/>
                </a:solidFill>
                <a:latin typeface="Calibri" pitchFamily="34" charset="0"/>
                <a:ea typeface="Calibri" pitchFamily="34" charset="-122"/>
                <a:cs typeface="Calibri" pitchFamily="34" charset="-120"/>
              </a:rPr>
              <a:t>ML detects it</a:t>
            </a:r>
            <a:endParaRPr lang="en-US" sz="1300" dirty="0"/>
          </a:p>
        </p:txBody>
      </p:sp>
      <p:sp>
        <p:nvSpPr>
          <p:cNvPr id="19" name="Text 15"/>
          <p:cNvSpPr/>
          <p:nvPr/>
        </p:nvSpPr>
        <p:spPr>
          <a:xfrm>
            <a:off x="2121408" y="2386584"/>
            <a:ext cx="6492240" cy="320040"/>
          </a:xfrm>
          <a:prstGeom prst="rect">
            <a:avLst/>
          </a:prstGeom>
          <a:noFill/>
          <a:ln/>
        </p:spPr>
        <p:txBody>
          <a:bodyPr wrap="square" lIns="0" tIns="0" rIns="0" bIns="0" rtlCol="0" anchor="ctr"/>
          <a:lstStyle/>
          <a:p>
            <a:pPr indent="0" marL="0">
              <a:buNone/>
            </a:pPr>
            <a:r>
              <a:rPr lang="en-US" sz="1150" dirty="0">
                <a:solidFill>
                  <a:srgbClr val="DCE8F5"/>
                </a:solidFill>
                <a:latin typeface="Calibri" pitchFamily="34" charset="0"/>
                <a:ea typeface="Calibri" pitchFamily="34" charset="-122"/>
                <a:cs typeface="Calibri" pitchFamily="34" charset="-120"/>
              </a:rPr>
              <a:t>Isolation Forest anomaly score: 0.94 (threshold: 0.5)</a:t>
            </a:r>
            <a:endParaRPr lang="en-US" sz="1150" dirty="0"/>
          </a:p>
        </p:txBody>
      </p:sp>
      <p:sp>
        <p:nvSpPr>
          <p:cNvPr id="20" name="Shape 16"/>
          <p:cNvSpPr/>
          <p:nvPr/>
        </p:nvSpPr>
        <p:spPr>
          <a:xfrm>
            <a:off x="320040" y="2999232"/>
            <a:ext cx="777240" cy="347472"/>
          </a:xfrm>
          <a:prstGeom prst="rect">
            <a:avLst/>
          </a:prstGeom>
          <a:solidFill>
            <a:srgbClr val="111820"/>
          </a:solidFill>
          <a:ln w="12700">
            <a:solidFill>
              <a:srgbClr val="FFD60A"/>
            </a:solidFill>
            <a:prstDash val="solid"/>
          </a:ln>
        </p:spPr>
      </p:sp>
      <p:sp>
        <p:nvSpPr>
          <p:cNvPr id="21" name="Text 17"/>
          <p:cNvSpPr/>
          <p:nvPr/>
        </p:nvSpPr>
        <p:spPr>
          <a:xfrm>
            <a:off x="320040" y="2999232"/>
            <a:ext cx="777240" cy="347472"/>
          </a:xfrm>
          <a:prstGeom prst="rect">
            <a:avLst/>
          </a:prstGeom>
          <a:noFill/>
          <a:ln/>
        </p:spPr>
        <p:txBody>
          <a:bodyPr wrap="square" lIns="0" tIns="0" rIns="0" bIns="0" rtlCol="0" anchor="ctr"/>
          <a:lstStyle/>
          <a:p>
            <a:pPr algn="ctr" indent="0" marL="0">
              <a:buNone/>
            </a:pPr>
            <a:r>
              <a:rPr lang="en-US" sz="1100" b="1" dirty="0">
                <a:solidFill>
                  <a:srgbClr val="FFD60A"/>
                </a:solidFill>
                <a:latin typeface="Calibri" pitchFamily="34" charset="0"/>
                <a:ea typeface="Calibri" pitchFamily="34" charset="-122"/>
                <a:cs typeface="Calibri" pitchFamily="34" charset="-120"/>
              </a:rPr>
              <a:t>03:02</a:t>
            </a:r>
            <a:endParaRPr lang="en-US" sz="1100" dirty="0"/>
          </a:p>
        </p:txBody>
      </p:sp>
      <p:sp>
        <p:nvSpPr>
          <p:cNvPr id="22" name="Shape 18"/>
          <p:cNvSpPr/>
          <p:nvPr/>
        </p:nvSpPr>
        <p:spPr>
          <a:xfrm>
            <a:off x="676656" y="3346704"/>
            <a:ext cx="64008" cy="594360"/>
          </a:xfrm>
          <a:prstGeom prst="rect">
            <a:avLst/>
          </a:prstGeom>
          <a:solidFill>
            <a:srgbClr val="1C2D42"/>
          </a:solidFill>
          <a:ln w="12700">
            <a:solidFill>
              <a:srgbClr val="1C2D42"/>
            </a:solidFill>
            <a:prstDash val="solid"/>
          </a:ln>
        </p:spPr>
      </p:sp>
      <p:sp>
        <p:nvSpPr>
          <p:cNvPr id="23" name="Shape 19"/>
          <p:cNvSpPr/>
          <p:nvPr/>
        </p:nvSpPr>
        <p:spPr>
          <a:xfrm>
            <a:off x="1371600" y="2926080"/>
            <a:ext cx="7406640" cy="804672"/>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24" name="Shape 20"/>
          <p:cNvSpPr/>
          <p:nvPr/>
        </p:nvSpPr>
        <p:spPr>
          <a:xfrm>
            <a:off x="1371600" y="2926080"/>
            <a:ext cx="54864" cy="804672"/>
          </a:xfrm>
          <a:prstGeom prst="rect">
            <a:avLst/>
          </a:prstGeom>
          <a:solidFill>
            <a:srgbClr val="FFD60A"/>
          </a:solidFill>
          <a:ln w="12700">
            <a:solidFill>
              <a:srgbClr val="FFD60A"/>
            </a:solidFill>
            <a:prstDash val="solid"/>
          </a:ln>
        </p:spPr>
      </p:sp>
      <p:pic>
        <p:nvPicPr>
          <p:cNvPr id="25" name="Image 2" descr="preencoded.png">    </p:cNvPr>
          <p:cNvPicPr>
            <a:picLocks noChangeAspect="1"/>
          </p:cNvPicPr>
          <p:nvPr/>
        </p:nvPicPr>
        <p:blipFill>
          <a:blip r:embed="rId3"/>
          <a:stretch>
            <a:fillRect/>
          </a:stretch>
        </p:blipFill>
        <p:spPr>
          <a:xfrm>
            <a:off x="1554480" y="3108960"/>
            <a:ext cx="438912" cy="438912"/>
          </a:xfrm>
          <a:prstGeom prst="rect">
            <a:avLst/>
          </a:prstGeom>
        </p:spPr>
      </p:pic>
      <p:sp>
        <p:nvSpPr>
          <p:cNvPr id="26" name="Text 21"/>
          <p:cNvSpPr/>
          <p:nvPr/>
        </p:nvSpPr>
        <p:spPr>
          <a:xfrm>
            <a:off x="2121408" y="3017520"/>
            <a:ext cx="6492240" cy="320040"/>
          </a:xfrm>
          <a:prstGeom prst="rect">
            <a:avLst/>
          </a:prstGeom>
          <a:noFill/>
          <a:ln/>
        </p:spPr>
        <p:txBody>
          <a:bodyPr wrap="square" lIns="0" tIns="0" rIns="0" bIns="0" rtlCol="0" anchor="ctr"/>
          <a:lstStyle/>
          <a:p>
            <a:pPr indent="0" marL="0">
              <a:buNone/>
            </a:pPr>
            <a:r>
              <a:rPr lang="en-US" sz="1300" b="1" dirty="0">
                <a:solidFill>
                  <a:srgbClr val="FFD60A"/>
                </a:solidFill>
                <a:latin typeface="Calibri" pitchFamily="34" charset="0"/>
                <a:ea typeface="Calibri" pitchFamily="34" charset="-122"/>
                <a:cs typeface="Calibri" pitchFamily="34" charset="-120"/>
              </a:rPr>
              <a:t>Alert fires</a:t>
            </a:r>
            <a:endParaRPr lang="en-US" sz="1300" dirty="0"/>
          </a:p>
        </p:txBody>
      </p:sp>
      <p:sp>
        <p:nvSpPr>
          <p:cNvPr id="27" name="Text 22"/>
          <p:cNvSpPr/>
          <p:nvPr/>
        </p:nvSpPr>
        <p:spPr>
          <a:xfrm>
            <a:off x="2121408" y="3346704"/>
            <a:ext cx="6492240" cy="320040"/>
          </a:xfrm>
          <a:prstGeom prst="rect">
            <a:avLst/>
          </a:prstGeom>
          <a:noFill/>
          <a:ln/>
        </p:spPr>
        <p:txBody>
          <a:bodyPr wrap="square" lIns="0" tIns="0" rIns="0" bIns="0" rtlCol="0" anchor="ctr"/>
          <a:lstStyle/>
          <a:p>
            <a:pPr indent="0" marL="0">
              <a:buNone/>
            </a:pPr>
            <a:r>
              <a:rPr lang="en-US" sz="1150" dirty="0">
                <a:solidFill>
                  <a:srgbClr val="DCE8F5"/>
                </a:solidFill>
                <a:latin typeface="Calibri" pitchFamily="34" charset="0"/>
                <a:ea typeface="Calibri" pitchFamily="34" charset="-122"/>
                <a:cs typeface="Calibri" pitchFamily="34" charset="-120"/>
              </a:rPr>
              <a:t>RSOC app pings on-call field team with zone, metric, severity</a:t>
            </a:r>
            <a:endParaRPr lang="en-US" sz="1150" dirty="0"/>
          </a:p>
        </p:txBody>
      </p:sp>
      <p:sp>
        <p:nvSpPr>
          <p:cNvPr id="28" name="Shape 23"/>
          <p:cNvSpPr/>
          <p:nvPr/>
        </p:nvSpPr>
        <p:spPr>
          <a:xfrm>
            <a:off x="320040" y="3959352"/>
            <a:ext cx="777240" cy="347472"/>
          </a:xfrm>
          <a:prstGeom prst="rect">
            <a:avLst/>
          </a:prstGeom>
          <a:solidFill>
            <a:srgbClr val="111820"/>
          </a:solidFill>
          <a:ln w="12700">
            <a:solidFill>
              <a:srgbClr val="00FF88"/>
            </a:solidFill>
            <a:prstDash val="solid"/>
          </a:ln>
        </p:spPr>
      </p:sp>
      <p:sp>
        <p:nvSpPr>
          <p:cNvPr id="29" name="Text 24"/>
          <p:cNvSpPr/>
          <p:nvPr/>
        </p:nvSpPr>
        <p:spPr>
          <a:xfrm>
            <a:off x="320040" y="3959352"/>
            <a:ext cx="777240" cy="347472"/>
          </a:xfrm>
          <a:prstGeom prst="rect">
            <a:avLst/>
          </a:prstGeom>
          <a:noFill/>
          <a:ln/>
        </p:spPr>
        <p:txBody>
          <a:bodyPr wrap="square" lIns="0" tIns="0" rIns="0" bIns="0" rtlCol="0" anchor="ctr"/>
          <a:lstStyle/>
          <a:p>
            <a:pPr algn="ctr" indent="0" marL="0">
              <a:buNone/>
            </a:pPr>
            <a:r>
              <a:rPr lang="en-US" sz="1100" b="1" dirty="0">
                <a:solidFill>
                  <a:srgbClr val="00FF88"/>
                </a:solidFill>
                <a:latin typeface="Calibri" pitchFamily="34" charset="0"/>
                <a:ea typeface="Calibri" pitchFamily="34" charset="-122"/>
                <a:cs typeface="Calibri" pitchFamily="34" charset="-120"/>
              </a:rPr>
              <a:t>03:04</a:t>
            </a:r>
            <a:endParaRPr lang="en-US" sz="1100" dirty="0"/>
          </a:p>
        </p:txBody>
      </p:sp>
      <p:sp>
        <p:nvSpPr>
          <p:cNvPr id="30" name="Shape 25"/>
          <p:cNvSpPr/>
          <p:nvPr/>
        </p:nvSpPr>
        <p:spPr>
          <a:xfrm>
            <a:off x="1371600" y="3886200"/>
            <a:ext cx="7406640" cy="804672"/>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31" name="Shape 26"/>
          <p:cNvSpPr/>
          <p:nvPr/>
        </p:nvSpPr>
        <p:spPr>
          <a:xfrm>
            <a:off x="1371600" y="3886200"/>
            <a:ext cx="54864" cy="804672"/>
          </a:xfrm>
          <a:prstGeom prst="rect">
            <a:avLst/>
          </a:prstGeom>
          <a:solidFill>
            <a:srgbClr val="00FF88"/>
          </a:solidFill>
          <a:ln w="12700">
            <a:solidFill>
              <a:srgbClr val="00FF88"/>
            </a:solidFill>
            <a:prstDash val="solid"/>
          </a:ln>
        </p:spPr>
      </p:sp>
      <p:pic>
        <p:nvPicPr>
          <p:cNvPr id="32" name="Image 3" descr="preencoded.png">    </p:cNvPr>
          <p:cNvPicPr>
            <a:picLocks noChangeAspect="1"/>
          </p:cNvPicPr>
          <p:nvPr/>
        </p:nvPicPr>
        <p:blipFill>
          <a:blip r:embed="rId4"/>
          <a:stretch>
            <a:fillRect/>
          </a:stretch>
        </p:blipFill>
        <p:spPr>
          <a:xfrm>
            <a:off x="1554480" y="4069080"/>
            <a:ext cx="438912" cy="438912"/>
          </a:xfrm>
          <a:prstGeom prst="rect">
            <a:avLst/>
          </a:prstGeom>
        </p:spPr>
      </p:pic>
      <p:sp>
        <p:nvSpPr>
          <p:cNvPr id="33" name="Text 27"/>
          <p:cNvSpPr/>
          <p:nvPr/>
        </p:nvSpPr>
        <p:spPr>
          <a:xfrm>
            <a:off x="2121408" y="3977640"/>
            <a:ext cx="6492240" cy="320040"/>
          </a:xfrm>
          <a:prstGeom prst="rect">
            <a:avLst/>
          </a:prstGeom>
          <a:noFill/>
          <a:ln/>
        </p:spPr>
        <p:txBody>
          <a:bodyPr wrap="square" lIns="0" tIns="0" rIns="0" bIns="0" rtlCol="0" anchor="ctr"/>
          <a:lstStyle/>
          <a:p>
            <a:pPr indent="0" marL="0">
              <a:buNone/>
            </a:pPr>
            <a:r>
              <a:rPr lang="en-US" sz="1300" b="1" dirty="0">
                <a:solidFill>
                  <a:srgbClr val="00FF88"/>
                </a:solidFill>
                <a:latin typeface="Calibri" pitchFamily="34" charset="0"/>
                <a:ea typeface="Calibri" pitchFamily="34" charset="-122"/>
                <a:cs typeface="Calibri" pitchFamily="34" charset="-120"/>
              </a:rPr>
              <a:t>Team responds</a:t>
            </a:r>
            <a:endParaRPr lang="en-US" sz="1300" dirty="0"/>
          </a:p>
        </p:txBody>
      </p:sp>
      <p:sp>
        <p:nvSpPr>
          <p:cNvPr id="34" name="Text 28"/>
          <p:cNvSpPr/>
          <p:nvPr/>
        </p:nvSpPr>
        <p:spPr>
          <a:xfrm>
            <a:off x="2121408" y="4306824"/>
            <a:ext cx="6492240" cy="320040"/>
          </a:xfrm>
          <a:prstGeom prst="rect">
            <a:avLst/>
          </a:prstGeom>
          <a:noFill/>
          <a:ln/>
        </p:spPr>
        <p:txBody>
          <a:bodyPr wrap="square" lIns="0" tIns="0" rIns="0" bIns="0" rtlCol="0" anchor="ctr"/>
          <a:lstStyle/>
          <a:p>
            <a:pPr indent="0" marL="0">
              <a:buNone/>
            </a:pPr>
            <a:r>
              <a:rPr lang="en-US" sz="1150" dirty="0">
                <a:solidFill>
                  <a:srgbClr val="DCE8F5"/>
                </a:solidFill>
                <a:latin typeface="Calibri" pitchFamily="34" charset="0"/>
                <a:ea typeface="Calibri" pitchFamily="34" charset="-122"/>
                <a:cs typeface="Calibri" pitchFamily="34" charset="-120"/>
              </a:rPr>
              <a:t>Operator opens RSOC, confirms anomaly, dispatches repair crew</a:t>
            </a:r>
            <a:endParaRPr lang="en-US" sz="1150" dirty="0"/>
          </a:p>
        </p:txBody>
      </p:sp>
      <p:sp>
        <p:nvSpPr>
          <p:cNvPr id="35" name="Shape 29"/>
          <p:cNvSpPr/>
          <p:nvPr/>
        </p:nvSpPr>
        <p:spPr>
          <a:xfrm>
            <a:off x="320040" y="4709160"/>
            <a:ext cx="8503920" cy="320040"/>
          </a:xfrm>
          <a:prstGeom prst="rect">
            <a:avLst/>
          </a:prstGeom>
          <a:solidFill>
            <a:srgbClr val="0D3540"/>
          </a:solidFill>
          <a:ln w="12700">
            <a:solidFill>
              <a:srgbClr val="00E5FF"/>
            </a:solidFill>
            <a:prstDash val="solid"/>
          </a:ln>
        </p:spPr>
      </p:sp>
      <p:sp>
        <p:nvSpPr>
          <p:cNvPr id="36" name="Text 30"/>
          <p:cNvSpPr/>
          <p:nvPr/>
        </p:nvSpPr>
        <p:spPr>
          <a:xfrm>
            <a:off x="320040" y="4709160"/>
            <a:ext cx="8503920" cy="320040"/>
          </a:xfrm>
          <a:prstGeom prst="rect">
            <a:avLst/>
          </a:prstGeom>
          <a:noFill/>
          <a:ln/>
        </p:spPr>
        <p:txBody>
          <a:bodyPr wrap="square" lIns="0" tIns="0" rIns="0" bIns="0" rtlCol="0" anchor="ctr"/>
          <a:lstStyle/>
          <a:p>
            <a:pPr algn="ctr" indent="0" marL="0">
              <a:buNone/>
            </a:pPr>
            <a:r>
              <a:rPr lang="en-US" sz="1150" b="1" dirty="0">
                <a:solidFill>
                  <a:srgbClr val="00E5FF"/>
                </a:solidFill>
                <a:latin typeface="Calibri" pitchFamily="34" charset="0"/>
                <a:ea typeface="Calibri" pitchFamily="34" charset="-122"/>
                <a:cs typeface="Calibri" pitchFamily="34" charset="-120"/>
              </a:rPr>
              <a:t>Detection to dispatch: under 4 minutes.  Without NexaCity: 8+ hours.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90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C1118"/>
          </a:solidFill>
          <a:ln w="12700">
            <a:solidFill>
              <a:srgbClr val="0C111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1400" b="1" spc="400" kern="0" dirty="0">
                <a:solidFill>
                  <a:srgbClr val="00E5FF"/>
                </a:solidFill>
                <a:latin typeface="Calibri" pitchFamily="34" charset="0"/>
                <a:ea typeface="Calibri" pitchFamily="34" charset="-122"/>
                <a:cs typeface="Calibri" pitchFamily="34" charset="-120"/>
              </a:rPr>
              <a:t>IMPACT &amp; VISION</a:t>
            </a:r>
            <a:endParaRPr lang="en-US" sz="1400" dirty="0"/>
          </a:p>
        </p:txBody>
      </p:sp>
      <p:sp>
        <p:nvSpPr>
          <p:cNvPr id="4" name="Shape 2"/>
          <p:cNvSpPr/>
          <p:nvPr/>
        </p:nvSpPr>
        <p:spPr>
          <a:xfrm>
            <a:off x="365760" y="960120"/>
            <a:ext cx="2560320" cy="169164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5" name="Shape 3"/>
          <p:cNvSpPr/>
          <p:nvPr/>
        </p:nvSpPr>
        <p:spPr>
          <a:xfrm>
            <a:off x="365760" y="960120"/>
            <a:ext cx="2560320" cy="64008"/>
          </a:xfrm>
          <a:prstGeom prst="rect">
            <a:avLst/>
          </a:prstGeom>
          <a:solidFill>
            <a:srgbClr val="00E5FF"/>
          </a:solidFill>
          <a:ln w="12700">
            <a:solidFill>
              <a:srgbClr val="00E5FF"/>
            </a:solidFill>
            <a:prstDash val="solid"/>
          </a:ln>
        </p:spPr>
      </p:sp>
      <p:sp>
        <p:nvSpPr>
          <p:cNvPr id="6" name="Text 4"/>
          <p:cNvSpPr/>
          <p:nvPr/>
        </p:nvSpPr>
        <p:spPr>
          <a:xfrm>
            <a:off x="365760" y="1143000"/>
            <a:ext cx="2560320" cy="822960"/>
          </a:xfrm>
          <a:prstGeom prst="rect">
            <a:avLst/>
          </a:prstGeom>
          <a:noFill/>
          <a:ln/>
        </p:spPr>
        <p:txBody>
          <a:bodyPr wrap="square" lIns="0" tIns="0" rIns="0" bIns="0" rtlCol="0" anchor="ctr"/>
          <a:lstStyle/>
          <a:p>
            <a:pPr algn="ctr" indent="0" marL="0">
              <a:buNone/>
            </a:pPr>
            <a:r>
              <a:rPr lang="en-US" sz="5200" b="1" dirty="0">
                <a:solidFill>
                  <a:srgbClr val="00E5FF"/>
                </a:solidFill>
                <a:latin typeface="Arial Black" pitchFamily="34" charset="0"/>
                <a:ea typeface="Arial Black" pitchFamily="34" charset="-122"/>
                <a:cs typeface="Arial Black" pitchFamily="34" charset="-120"/>
              </a:rPr>
              <a:t>120+</a:t>
            </a:r>
            <a:endParaRPr lang="en-US" sz="5200" dirty="0"/>
          </a:p>
        </p:txBody>
      </p:sp>
      <p:sp>
        <p:nvSpPr>
          <p:cNvPr id="7" name="Text 5"/>
          <p:cNvSpPr/>
          <p:nvPr/>
        </p:nvSpPr>
        <p:spPr>
          <a:xfrm>
            <a:off x="365760" y="2011680"/>
            <a:ext cx="2560320" cy="548640"/>
          </a:xfrm>
          <a:prstGeom prst="rect">
            <a:avLst/>
          </a:prstGeom>
          <a:noFill/>
          <a:ln/>
        </p:spPr>
        <p:txBody>
          <a:bodyPr wrap="square" lIns="0" tIns="0" rIns="0" bIns="0" rtlCol="0" anchor="ctr"/>
          <a:lstStyle/>
          <a:p>
            <a:pPr algn="ctr" indent="0" marL="0">
              <a:buNone/>
            </a:pPr>
            <a:r>
              <a:rPr lang="en-US" sz="1150" dirty="0">
                <a:solidFill>
                  <a:srgbClr val="DCE8F5"/>
                </a:solidFill>
                <a:latin typeface="Calibri" pitchFamily="34" charset="0"/>
                <a:ea typeface="Calibri" pitchFamily="34" charset="-122"/>
                <a:cs typeface="Calibri" pitchFamily="34" charset="-120"/>
              </a:rPr>
              <a:t>Indian Smart</a:t>
            </a:r>
            <a:endParaRPr lang="en-US" sz="1150" dirty="0"/>
          </a:p>
          <a:p>
            <a:pPr algn="ctr" indent="0" marL="0">
              <a:buNone/>
            </a:pPr>
            <a:r>
              <a:rPr lang="en-US" sz="1150" dirty="0">
                <a:solidFill>
                  <a:srgbClr val="DCE8F5"/>
                </a:solidFill>
                <a:latin typeface="Calibri" pitchFamily="34" charset="0"/>
                <a:ea typeface="Calibri" pitchFamily="34" charset="-122"/>
                <a:cs typeface="Calibri" pitchFamily="34" charset="-120"/>
              </a:rPr>
              <a:t>City Mission cities</a:t>
            </a:r>
            <a:endParaRPr lang="en-US" sz="1150" dirty="0"/>
          </a:p>
        </p:txBody>
      </p:sp>
      <p:sp>
        <p:nvSpPr>
          <p:cNvPr id="8" name="Shape 6"/>
          <p:cNvSpPr/>
          <p:nvPr/>
        </p:nvSpPr>
        <p:spPr>
          <a:xfrm>
            <a:off x="3200400" y="960120"/>
            <a:ext cx="2560320" cy="169164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9" name="Shape 7"/>
          <p:cNvSpPr/>
          <p:nvPr/>
        </p:nvSpPr>
        <p:spPr>
          <a:xfrm>
            <a:off x="3200400" y="960120"/>
            <a:ext cx="2560320" cy="64008"/>
          </a:xfrm>
          <a:prstGeom prst="rect">
            <a:avLst/>
          </a:prstGeom>
          <a:solidFill>
            <a:srgbClr val="00FF88"/>
          </a:solidFill>
          <a:ln w="12700">
            <a:solidFill>
              <a:srgbClr val="00FF88"/>
            </a:solidFill>
            <a:prstDash val="solid"/>
          </a:ln>
        </p:spPr>
      </p:sp>
      <p:sp>
        <p:nvSpPr>
          <p:cNvPr id="10" name="Text 8"/>
          <p:cNvSpPr/>
          <p:nvPr/>
        </p:nvSpPr>
        <p:spPr>
          <a:xfrm>
            <a:off x="3200400" y="1143000"/>
            <a:ext cx="2560320" cy="822960"/>
          </a:xfrm>
          <a:prstGeom prst="rect">
            <a:avLst/>
          </a:prstGeom>
          <a:noFill/>
          <a:ln/>
        </p:spPr>
        <p:txBody>
          <a:bodyPr wrap="square" lIns="0" tIns="0" rIns="0" bIns="0" rtlCol="0" anchor="ctr"/>
          <a:lstStyle/>
          <a:p>
            <a:pPr algn="ctr" indent="0" marL="0">
              <a:buNone/>
            </a:pPr>
            <a:r>
              <a:rPr lang="en-US" sz="5200" b="1" dirty="0">
                <a:solidFill>
                  <a:srgbClr val="00FF88"/>
                </a:solidFill>
                <a:latin typeface="Arial Black" pitchFamily="34" charset="0"/>
                <a:ea typeface="Arial Black" pitchFamily="34" charset="-122"/>
                <a:cs typeface="Arial Black" pitchFamily="34" charset="-120"/>
              </a:rPr>
              <a:t>4 min</a:t>
            </a:r>
            <a:endParaRPr lang="en-US" sz="5200" dirty="0"/>
          </a:p>
        </p:txBody>
      </p:sp>
      <p:sp>
        <p:nvSpPr>
          <p:cNvPr id="11" name="Text 9"/>
          <p:cNvSpPr/>
          <p:nvPr/>
        </p:nvSpPr>
        <p:spPr>
          <a:xfrm>
            <a:off x="3200400" y="2011680"/>
            <a:ext cx="2560320" cy="548640"/>
          </a:xfrm>
          <a:prstGeom prst="rect">
            <a:avLst/>
          </a:prstGeom>
          <a:noFill/>
          <a:ln/>
        </p:spPr>
        <p:txBody>
          <a:bodyPr wrap="square" lIns="0" tIns="0" rIns="0" bIns="0" rtlCol="0" anchor="ctr"/>
          <a:lstStyle/>
          <a:p>
            <a:pPr algn="ctr" indent="0" marL="0">
              <a:buNone/>
            </a:pPr>
            <a:r>
              <a:rPr lang="en-US" sz="1150" dirty="0">
                <a:solidFill>
                  <a:srgbClr val="DCE8F5"/>
                </a:solidFill>
                <a:latin typeface="Calibri" pitchFamily="34" charset="0"/>
                <a:ea typeface="Calibri" pitchFamily="34" charset="-122"/>
                <a:cs typeface="Calibri" pitchFamily="34" charset="-120"/>
              </a:rPr>
              <a:t>Avg. detection to</a:t>
            </a:r>
            <a:endParaRPr lang="en-US" sz="1150" dirty="0"/>
          </a:p>
          <a:p>
            <a:pPr algn="ctr" indent="0" marL="0">
              <a:buNone/>
            </a:pPr>
            <a:r>
              <a:rPr lang="en-US" sz="1150" dirty="0">
                <a:solidFill>
                  <a:srgbClr val="DCE8F5"/>
                </a:solidFill>
                <a:latin typeface="Calibri" pitchFamily="34" charset="0"/>
                <a:ea typeface="Calibri" pitchFamily="34" charset="-122"/>
                <a:cs typeface="Calibri" pitchFamily="34" charset="-120"/>
              </a:rPr>
              <a:t>dispatch time</a:t>
            </a:r>
            <a:endParaRPr lang="en-US" sz="1150" dirty="0"/>
          </a:p>
        </p:txBody>
      </p:sp>
      <p:sp>
        <p:nvSpPr>
          <p:cNvPr id="12" name="Shape 10"/>
          <p:cNvSpPr/>
          <p:nvPr/>
        </p:nvSpPr>
        <p:spPr>
          <a:xfrm>
            <a:off x="6035040" y="960120"/>
            <a:ext cx="2560320" cy="169164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13" name="Shape 11"/>
          <p:cNvSpPr/>
          <p:nvPr/>
        </p:nvSpPr>
        <p:spPr>
          <a:xfrm>
            <a:off x="6035040" y="960120"/>
            <a:ext cx="2560320" cy="64008"/>
          </a:xfrm>
          <a:prstGeom prst="rect">
            <a:avLst/>
          </a:prstGeom>
          <a:solidFill>
            <a:srgbClr val="FFD60A"/>
          </a:solidFill>
          <a:ln w="12700">
            <a:solidFill>
              <a:srgbClr val="FFD60A"/>
            </a:solidFill>
            <a:prstDash val="solid"/>
          </a:ln>
        </p:spPr>
      </p:sp>
      <p:sp>
        <p:nvSpPr>
          <p:cNvPr id="14" name="Text 12"/>
          <p:cNvSpPr/>
          <p:nvPr/>
        </p:nvSpPr>
        <p:spPr>
          <a:xfrm>
            <a:off x="6035040" y="1143000"/>
            <a:ext cx="2560320" cy="822960"/>
          </a:xfrm>
          <a:prstGeom prst="rect">
            <a:avLst/>
          </a:prstGeom>
          <a:noFill/>
          <a:ln/>
        </p:spPr>
        <p:txBody>
          <a:bodyPr wrap="square" lIns="0" tIns="0" rIns="0" bIns="0" rtlCol="0" anchor="ctr"/>
          <a:lstStyle/>
          <a:p>
            <a:pPr algn="ctr" indent="0" marL="0">
              <a:buNone/>
            </a:pPr>
            <a:r>
              <a:rPr lang="en-US" sz="5200" b="1" dirty="0">
                <a:solidFill>
                  <a:srgbClr val="FFD60A"/>
                </a:solidFill>
                <a:latin typeface="Arial Black" pitchFamily="34" charset="0"/>
                <a:ea typeface="Arial Black" pitchFamily="34" charset="-122"/>
                <a:cs typeface="Arial Black" pitchFamily="34" charset="-120"/>
              </a:rPr>
              <a:t>95%</a:t>
            </a:r>
            <a:endParaRPr lang="en-US" sz="5200" dirty="0"/>
          </a:p>
        </p:txBody>
      </p:sp>
      <p:sp>
        <p:nvSpPr>
          <p:cNvPr id="15" name="Text 13"/>
          <p:cNvSpPr/>
          <p:nvPr/>
        </p:nvSpPr>
        <p:spPr>
          <a:xfrm>
            <a:off x="6035040" y="2011680"/>
            <a:ext cx="2560320" cy="548640"/>
          </a:xfrm>
          <a:prstGeom prst="rect">
            <a:avLst/>
          </a:prstGeom>
          <a:noFill/>
          <a:ln/>
        </p:spPr>
        <p:txBody>
          <a:bodyPr wrap="square" lIns="0" tIns="0" rIns="0" bIns="0" rtlCol="0" anchor="ctr"/>
          <a:lstStyle/>
          <a:p>
            <a:pPr algn="ctr" indent="0" marL="0">
              <a:buNone/>
            </a:pPr>
            <a:r>
              <a:rPr lang="en-US" sz="1150" dirty="0">
                <a:solidFill>
                  <a:srgbClr val="DCE8F5"/>
                </a:solidFill>
                <a:latin typeface="Calibri" pitchFamily="34" charset="0"/>
                <a:ea typeface="Calibri" pitchFamily="34" charset="-122"/>
                <a:cs typeface="Calibri" pitchFamily="34" charset="-120"/>
              </a:rPr>
              <a:t>Anomaly detection</a:t>
            </a:r>
            <a:endParaRPr lang="en-US" sz="1150" dirty="0"/>
          </a:p>
          <a:p>
            <a:pPr algn="ctr" indent="0" marL="0">
              <a:buNone/>
            </a:pPr>
            <a:r>
              <a:rPr lang="en-US" sz="1150" dirty="0">
                <a:solidFill>
                  <a:srgbClr val="DCE8F5"/>
                </a:solidFill>
                <a:latin typeface="Calibri" pitchFamily="34" charset="0"/>
                <a:ea typeface="Calibri" pitchFamily="34" charset="-122"/>
                <a:cs typeface="Calibri" pitchFamily="34" charset="-120"/>
              </a:rPr>
              <a:t>accuracy (Isolation Forest)</a:t>
            </a:r>
            <a:endParaRPr lang="en-US" sz="1150" dirty="0"/>
          </a:p>
        </p:txBody>
      </p:sp>
      <p:sp>
        <p:nvSpPr>
          <p:cNvPr id="16" name="Text 14"/>
          <p:cNvSpPr/>
          <p:nvPr/>
        </p:nvSpPr>
        <p:spPr>
          <a:xfrm>
            <a:off x="365760" y="2834640"/>
            <a:ext cx="8229600" cy="365760"/>
          </a:xfrm>
          <a:prstGeom prst="rect">
            <a:avLst/>
          </a:prstGeom>
          <a:noFill/>
          <a:ln/>
        </p:spPr>
        <p:txBody>
          <a:bodyPr wrap="square" lIns="0" tIns="0" rIns="0" bIns="0" rtlCol="0" anchor="ctr"/>
          <a:lstStyle/>
          <a:p>
            <a:pPr indent="0" marL="0">
              <a:buNone/>
            </a:pPr>
            <a:r>
              <a:rPr lang="en-US" sz="1100" b="1" spc="300" kern="0" dirty="0">
                <a:solidFill>
                  <a:srgbClr val="00E5FF"/>
                </a:solidFill>
                <a:latin typeface="Calibri" pitchFamily="34" charset="0"/>
                <a:ea typeface="Calibri" pitchFamily="34" charset="-122"/>
                <a:cs typeface="Calibri" pitchFamily="34" charset="-120"/>
              </a:rPr>
              <a:t>WHAT'S NEXT</a:t>
            </a:r>
            <a:endParaRPr lang="en-US" sz="1100" dirty="0"/>
          </a:p>
        </p:txBody>
      </p:sp>
      <p:sp>
        <p:nvSpPr>
          <p:cNvPr id="17" name="Shape 15"/>
          <p:cNvSpPr/>
          <p:nvPr/>
        </p:nvSpPr>
        <p:spPr>
          <a:xfrm>
            <a:off x="365760" y="3291840"/>
            <a:ext cx="8412480" cy="457200"/>
          </a:xfrm>
          <a:prstGeom prst="rect">
            <a:avLst/>
          </a:prstGeom>
          <a:solidFill>
            <a:srgbClr val="111820"/>
          </a:solidFill>
          <a:ln w="12700">
            <a:solidFill>
              <a:srgbClr val="1C2D42"/>
            </a:solidFill>
            <a:prstDash val="solid"/>
          </a:ln>
        </p:spPr>
      </p:sp>
      <p:sp>
        <p:nvSpPr>
          <p:cNvPr id="18" name="Shape 16"/>
          <p:cNvSpPr/>
          <p:nvPr/>
        </p:nvSpPr>
        <p:spPr>
          <a:xfrm>
            <a:off x="365760" y="3291840"/>
            <a:ext cx="54864" cy="457200"/>
          </a:xfrm>
          <a:prstGeom prst="rect">
            <a:avLst/>
          </a:prstGeom>
          <a:solidFill>
            <a:srgbClr val="00FF88"/>
          </a:solidFill>
          <a:ln w="12700">
            <a:solidFill>
              <a:srgbClr val="00FF88"/>
            </a:solidFill>
            <a:prstDash val="solid"/>
          </a:ln>
        </p:spPr>
      </p:sp>
      <p:sp>
        <p:nvSpPr>
          <p:cNvPr id="19" name="Text 17"/>
          <p:cNvSpPr/>
          <p:nvPr/>
        </p:nvSpPr>
        <p:spPr>
          <a:xfrm>
            <a:off x="530352" y="3291840"/>
            <a:ext cx="1005840" cy="457200"/>
          </a:xfrm>
          <a:prstGeom prst="rect">
            <a:avLst/>
          </a:prstGeom>
          <a:noFill/>
          <a:ln/>
        </p:spPr>
        <p:txBody>
          <a:bodyPr wrap="square" lIns="0" tIns="0" rIns="0" bIns="0" rtlCol="0" anchor="ctr"/>
          <a:lstStyle/>
          <a:p>
            <a:pPr indent="0" marL="0">
              <a:buNone/>
            </a:pPr>
            <a:r>
              <a:rPr lang="en-US" sz="950" b="1" spc="100" kern="0" dirty="0">
                <a:solidFill>
                  <a:srgbClr val="00FF88"/>
                </a:solidFill>
                <a:latin typeface="Calibri" pitchFamily="34" charset="0"/>
                <a:ea typeface="Calibri" pitchFamily="34" charset="-122"/>
                <a:cs typeface="Calibri" pitchFamily="34" charset="-120"/>
              </a:rPr>
              <a:t>NOW</a:t>
            </a:r>
            <a:endParaRPr lang="en-US" sz="950" dirty="0"/>
          </a:p>
        </p:txBody>
      </p:sp>
      <p:sp>
        <p:nvSpPr>
          <p:cNvPr id="20" name="Text 18"/>
          <p:cNvSpPr/>
          <p:nvPr/>
        </p:nvSpPr>
        <p:spPr>
          <a:xfrm>
            <a:off x="1600200" y="3291840"/>
            <a:ext cx="7040880" cy="457200"/>
          </a:xfrm>
          <a:prstGeom prst="rect">
            <a:avLst/>
          </a:prstGeom>
          <a:noFill/>
          <a:ln/>
        </p:spPr>
        <p:txBody>
          <a:bodyPr wrap="square" lIns="0" tIns="0" rIns="0" bIns="0" rtlCol="0" anchor="ctr"/>
          <a:lstStyle/>
          <a:p>
            <a:pPr indent="0" marL="0">
              <a:buNone/>
            </a:pPr>
            <a:r>
              <a:rPr lang="en-US" sz="1100" dirty="0">
                <a:solidFill>
                  <a:srgbClr val="DCE8F5"/>
                </a:solidFill>
                <a:latin typeface="Calibri" pitchFamily="34" charset="0"/>
                <a:ea typeface="Calibri" pitchFamily="34" charset="-122"/>
                <a:cs typeface="Calibri" pitchFamily="34" charset="-120"/>
              </a:rPr>
              <a:t>Live deployment for Nagpur NMC with real IoT sensor integration</a:t>
            </a:r>
            <a:endParaRPr lang="en-US" sz="1100" dirty="0"/>
          </a:p>
        </p:txBody>
      </p:sp>
      <p:sp>
        <p:nvSpPr>
          <p:cNvPr id="21" name="Shape 19"/>
          <p:cNvSpPr/>
          <p:nvPr/>
        </p:nvSpPr>
        <p:spPr>
          <a:xfrm>
            <a:off x="365760" y="3822192"/>
            <a:ext cx="8412480" cy="457200"/>
          </a:xfrm>
          <a:prstGeom prst="rect">
            <a:avLst/>
          </a:prstGeom>
          <a:solidFill>
            <a:srgbClr val="111820"/>
          </a:solidFill>
          <a:ln w="12700">
            <a:solidFill>
              <a:srgbClr val="1C2D42"/>
            </a:solidFill>
            <a:prstDash val="solid"/>
          </a:ln>
        </p:spPr>
      </p:sp>
      <p:sp>
        <p:nvSpPr>
          <p:cNvPr id="22" name="Shape 20"/>
          <p:cNvSpPr/>
          <p:nvPr/>
        </p:nvSpPr>
        <p:spPr>
          <a:xfrm>
            <a:off x="365760" y="3822192"/>
            <a:ext cx="54864" cy="457200"/>
          </a:xfrm>
          <a:prstGeom prst="rect">
            <a:avLst/>
          </a:prstGeom>
          <a:solidFill>
            <a:srgbClr val="00E5FF"/>
          </a:solidFill>
          <a:ln w="12700">
            <a:solidFill>
              <a:srgbClr val="00E5FF"/>
            </a:solidFill>
            <a:prstDash val="solid"/>
          </a:ln>
        </p:spPr>
      </p:sp>
      <p:sp>
        <p:nvSpPr>
          <p:cNvPr id="23" name="Text 21"/>
          <p:cNvSpPr/>
          <p:nvPr/>
        </p:nvSpPr>
        <p:spPr>
          <a:xfrm>
            <a:off x="530352" y="3822192"/>
            <a:ext cx="1005840" cy="457200"/>
          </a:xfrm>
          <a:prstGeom prst="rect">
            <a:avLst/>
          </a:prstGeom>
          <a:noFill/>
          <a:ln/>
        </p:spPr>
        <p:txBody>
          <a:bodyPr wrap="square" lIns="0" tIns="0" rIns="0" bIns="0" rtlCol="0" anchor="ctr"/>
          <a:lstStyle/>
          <a:p>
            <a:pPr indent="0" marL="0">
              <a:buNone/>
            </a:pPr>
            <a:r>
              <a:rPr lang="en-US" sz="950" b="1" spc="100" kern="0" dirty="0">
                <a:solidFill>
                  <a:srgbClr val="00E5FF"/>
                </a:solidFill>
                <a:latin typeface="Calibri" pitchFamily="34" charset="0"/>
                <a:ea typeface="Calibri" pitchFamily="34" charset="-122"/>
                <a:cs typeface="Calibri" pitchFamily="34" charset="-120"/>
              </a:rPr>
              <a:t>6 MONTHS</a:t>
            </a:r>
            <a:endParaRPr lang="en-US" sz="950" dirty="0"/>
          </a:p>
        </p:txBody>
      </p:sp>
      <p:sp>
        <p:nvSpPr>
          <p:cNvPr id="24" name="Text 22"/>
          <p:cNvSpPr/>
          <p:nvPr/>
        </p:nvSpPr>
        <p:spPr>
          <a:xfrm>
            <a:off x="1600200" y="3822192"/>
            <a:ext cx="7040880" cy="457200"/>
          </a:xfrm>
          <a:prstGeom prst="rect">
            <a:avLst/>
          </a:prstGeom>
          <a:noFill/>
          <a:ln/>
        </p:spPr>
        <p:txBody>
          <a:bodyPr wrap="square" lIns="0" tIns="0" rIns="0" bIns="0" rtlCol="0" anchor="ctr"/>
          <a:lstStyle/>
          <a:p>
            <a:pPr indent="0" marL="0">
              <a:buNone/>
            </a:pPr>
            <a:r>
              <a:rPr lang="en-US" sz="1100" dirty="0">
                <a:solidFill>
                  <a:srgbClr val="DCE8F5"/>
                </a:solidFill>
                <a:latin typeface="Calibri" pitchFamily="34" charset="0"/>
                <a:ea typeface="Calibri" pitchFamily="34" charset="-122"/>
                <a:cs typeface="Calibri" pitchFamily="34" charset="-120"/>
              </a:rPr>
              <a:t>WebSocket real-time streaming · Predictive maintenance module · NLP v2 with LLM</a:t>
            </a:r>
            <a:endParaRPr lang="en-US" sz="1100" dirty="0"/>
          </a:p>
        </p:txBody>
      </p:sp>
      <p:sp>
        <p:nvSpPr>
          <p:cNvPr id="25" name="Shape 23"/>
          <p:cNvSpPr/>
          <p:nvPr/>
        </p:nvSpPr>
        <p:spPr>
          <a:xfrm>
            <a:off x="365760" y="4352544"/>
            <a:ext cx="8412480" cy="457200"/>
          </a:xfrm>
          <a:prstGeom prst="rect">
            <a:avLst/>
          </a:prstGeom>
          <a:solidFill>
            <a:srgbClr val="111820"/>
          </a:solidFill>
          <a:ln w="12700">
            <a:solidFill>
              <a:srgbClr val="1C2D42"/>
            </a:solidFill>
            <a:prstDash val="solid"/>
          </a:ln>
        </p:spPr>
      </p:sp>
      <p:sp>
        <p:nvSpPr>
          <p:cNvPr id="26" name="Shape 24"/>
          <p:cNvSpPr/>
          <p:nvPr/>
        </p:nvSpPr>
        <p:spPr>
          <a:xfrm>
            <a:off x="365760" y="4352544"/>
            <a:ext cx="54864" cy="457200"/>
          </a:xfrm>
          <a:prstGeom prst="rect">
            <a:avLst/>
          </a:prstGeom>
          <a:solidFill>
            <a:srgbClr val="A855F7"/>
          </a:solidFill>
          <a:ln w="12700">
            <a:solidFill>
              <a:srgbClr val="A855F7"/>
            </a:solidFill>
            <a:prstDash val="solid"/>
          </a:ln>
        </p:spPr>
      </p:sp>
      <p:sp>
        <p:nvSpPr>
          <p:cNvPr id="27" name="Text 25"/>
          <p:cNvSpPr/>
          <p:nvPr/>
        </p:nvSpPr>
        <p:spPr>
          <a:xfrm>
            <a:off x="530352" y="4352544"/>
            <a:ext cx="1005840" cy="457200"/>
          </a:xfrm>
          <a:prstGeom prst="rect">
            <a:avLst/>
          </a:prstGeom>
          <a:noFill/>
          <a:ln/>
        </p:spPr>
        <p:txBody>
          <a:bodyPr wrap="square" lIns="0" tIns="0" rIns="0" bIns="0" rtlCol="0" anchor="ctr"/>
          <a:lstStyle/>
          <a:p>
            <a:pPr indent="0" marL="0">
              <a:buNone/>
            </a:pPr>
            <a:r>
              <a:rPr lang="en-US" sz="950" b="1" spc="100" kern="0" dirty="0">
                <a:solidFill>
                  <a:srgbClr val="A855F7"/>
                </a:solidFill>
                <a:latin typeface="Calibri" pitchFamily="34" charset="0"/>
                <a:ea typeface="Calibri" pitchFamily="34" charset="-122"/>
                <a:cs typeface="Calibri" pitchFamily="34" charset="-120"/>
              </a:rPr>
              <a:t>1 YEAR</a:t>
            </a:r>
            <a:endParaRPr lang="en-US" sz="950" dirty="0"/>
          </a:p>
        </p:txBody>
      </p:sp>
      <p:sp>
        <p:nvSpPr>
          <p:cNvPr id="28" name="Text 26"/>
          <p:cNvSpPr/>
          <p:nvPr/>
        </p:nvSpPr>
        <p:spPr>
          <a:xfrm>
            <a:off x="1600200" y="4352544"/>
            <a:ext cx="7040880" cy="457200"/>
          </a:xfrm>
          <a:prstGeom prst="rect">
            <a:avLst/>
          </a:prstGeom>
          <a:noFill/>
          <a:ln/>
        </p:spPr>
        <p:txBody>
          <a:bodyPr wrap="square" lIns="0" tIns="0" rIns="0" bIns="0" rtlCol="0" anchor="ctr"/>
          <a:lstStyle/>
          <a:p>
            <a:pPr indent="0" marL="0">
              <a:buNone/>
            </a:pPr>
            <a:r>
              <a:rPr lang="en-US" sz="1100" dirty="0">
                <a:solidFill>
                  <a:srgbClr val="DCE8F5"/>
                </a:solidFill>
                <a:latin typeface="Calibri" pitchFamily="34" charset="0"/>
                <a:ea typeface="Calibri" pitchFamily="34" charset="-122"/>
                <a:cs typeface="Calibri" pitchFamily="34" charset="-120"/>
              </a:rPr>
              <a:t>Multi-city SaaS deployment · Open API for third-party integration · Citizen alert app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90F"/>
        </a:solidFill>
      </p:bgPr>
    </p:bg>
    <p:spTree>
      <p:nvGrpSpPr>
        <p:cNvPr id="1" name=""/>
        <p:cNvGrpSpPr/>
        <p:nvPr/>
      </p:nvGrpSpPr>
      <p:grpSpPr>
        <a:xfrm>
          <a:off x="0" y="0"/>
          <a:ext cx="0" cy="0"/>
          <a:chOff x="0" y="0"/>
          <a:chExt cx="0" cy="0"/>
        </a:xfrm>
      </p:grpSpPr>
      <p:sp>
        <p:nvSpPr>
          <p:cNvPr id="2" name="Shape 0"/>
          <p:cNvSpPr/>
          <p:nvPr/>
        </p:nvSpPr>
        <p:spPr>
          <a:xfrm>
            <a:off x="2286000" y="1097280"/>
            <a:ext cx="4572000" cy="2926080"/>
          </a:xfrm>
          <a:prstGeom prst="rect">
            <a:avLst/>
          </a:prstGeom>
          <a:solidFill>
            <a:srgbClr val="0D3540"/>
          </a:solidFill>
          <a:ln w="12700">
            <a:solidFill>
              <a:srgbClr val="0D3540"/>
            </a:solidFill>
            <a:prstDash val="solid"/>
          </a:ln>
          <a:effectLst>
            <a:outerShdw sx="100000" sy="100000" kx="0" ky="0" algn="bl" rotWithShape="0" blurRad="508000" dist="50800" dir="8100000">
              <a:srgbClr val="00E5FF">
                <a:alpha val="15000"/>
              </a:srgbClr>
            </a:outerShdw>
          </a:effectLst>
        </p:spPr>
      </p:sp>
      <p:sp>
        <p:nvSpPr>
          <p:cNvPr id="3" name="Shape 1"/>
          <p:cNvSpPr/>
          <p:nvPr/>
        </p:nvSpPr>
        <p:spPr>
          <a:xfrm>
            <a:off x="411480" y="502920"/>
            <a:ext cx="64008" cy="4114800"/>
          </a:xfrm>
          <a:prstGeom prst="rect">
            <a:avLst/>
          </a:prstGeom>
          <a:solidFill>
            <a:srgbClr val="00E5FF"/>
          </a:solidFill>
          <a:ln w="12700">
            <a:solidFill>
              <a:srgbClr val="00E5FF"/>
            </a:solidFill>
            <a:prstDash val="solid"/>
          </a:ln>
        </p:spPr>
      </p:sp>
      <p:sp>
        <p:nvSpPr>
          <p:cNvPr id="4" name="Text 2"/>
          <p:cNvSpPr/>
          <p:nvPr/>
        </p:nvSpPr>
        <p:spPr>
          <a:xfrm>
            <a:off x="594360" y="640080"/>
            <a:ext cx="8229600" cy="914400"/>
          </a:xfrm>
          <a:prstGeom prst="rect">
            <a:avLst/>
          </a:prstGeom>
          <a:noFill/>
          <a:ln/>
        </p:spPr>
        <p:txBody>
          <a:bodyPr wrap="square" lIns="0" tIns="0" rIns="0" bIns="0" rtlCol="0" anchor="ctr"/>
          <a:lstStyle/>
          <a:p>
            <a:pPr indent="0" marL="0">
              <a:buNone/>
            </a:pPr>
            <a:r>
              <a:rPr lang="en-US" sz="5200" b="1" spc="300" kern="0" dirty="0">
                <a:solidFill>
                  <a:srgbClr val="FFFFFF"/>
                </a:solidFill>
                <a:latin typeface="Arial Black" pitchFamily="34" charset="0"/>
                <a:ea typeface="Arial Black" pitchFamily="34" charset="-122"/>
                <a:cs typeface="Arial Black" pitchFamily="34" charset="-120"/>
              </a:rPr>
              <a:t>CITIES DON'T SLEEP.</a:t>
            </a:r>
            <a:endParaRPr lang="en-US" sz="5200" dirty="0"/>
          </a:p>
        </p:txBody>
      </p:sp>
      <p:sp>
        <p:nvSpPr>
          <p:cNvPr id="5" name="Text 3"/>
          <p:cNvSpPr/>
          <p:nvPr/>
        </p:nvSpPr>
        <p:spPr>
          <a:xfrm>
            <a:off x="594360" y="1536192"/>
            <a:ext cx="8229600" cy="594360"/>
          </a:xfrm>
          <a:prstGeom prst="rect">
            <a:avLst/>
          </a:prstGeom>
          <a:noFill/>
          <a:ln/>
        </p:spPr>
        <p:txBody>
          <a:bodyPr wrap="square" lIns="0" tIns="0" rIns="0" bIns="0" rtlCol="0" anchor="ctr"/>
          <a:lstStyle/>
          <a:p>
            <a:pPr indent="0" marL="0">
              <a:buNone/>
            </a:pPr>
            <a:r>
              <a:rPr lang="en-US" sz="2800" i="1" dirty="0">
                <a:solidFill>
                  <a:srgbClr val="00E5FF"/>
                </a:solidFill>
                <a:latin typeface="Calibri" pitchFamily="34" charset="0"/>
                <a:ea typeface="Calibri" pitchFamily="34" charset="-122"/>
                <a:cs typeface="Calibri" pitchFamily="34" charset="-120"/>
              </a:rPr>
              <a:t>Neither should their intelligence.</a:t>
            </a:r>
            <a:endParaRPr lang="en-US" sz="2800" dirty="0"/>
          </a:p>
        </p:txBody>
      </p:sp>
      <p:sp>
        <p:nvSpPr>
          <p:cNvPr id="6" name="Shape 4"/>
          <p:cNvSpPr/>
          <p:nvPr/>
        </p:nvSpPr>
        <p:spPr>
          <a:xfrm>
            <a:off x="594360" y="2286000"/>
            <a:ext cx="5486400" cy="36576"/>
          </a:xfrm>
          <a:prstGeom prst="rect">
            <a:avLst/>
          </a:prstGeom>
          <a:solidFill>
            <a:srgbClr val="1C2D42"/>
          </a:solidFill>
          <a:ln w="12700">
            <a:solidFill>
              <a:srgbClr val="1C2D42"/>
            </a:solidFill>
            <a:prstDash val="solid"/>
          </a:ln>
        </p:spPr>
      </p:sp>
      <p:sp>
        <p:nvSpPr>
          <p:cNvPr id="7" name="Text 5"/>
          <p:cNvSpPr/>
          <p:nvPr/>
        </p:nvSpPr>
        <p:spPr>
          <a:xfrm>
            <a:off x="594360" y="2423160"/>
            <a:ext cx="7955280" cy="457200"/>
          </a:xfrm>
          <a:prstGeom prst="rect">
            <a:avLst/>
          </a:prstGeom>
          <a:noFill/>
          <a:ln/>
        </p:spPr>
        <p:txBody>
          <a:bodyPr wrap="square" lIns="0" tIns="0" rIns="0" bIns="0" rtlCol="0" anchor="ctr"/>
          <a:lstStyle/>
          <a:p>
            <a:pPr indent="0" marL="0">
              <a:buNone/>
            </a:pPr>
            <a:r>
              <a:rPr lang="en-US" sz="1400" dirty="0">
                <a:solidFill>
                  <a:srgbClr val="DCE8F5"/>
                </a:solidFill>
                <a:latin typeface="Calibri" pitchFamily="34" charset="0"/>
                <a:ea typeface="Calibri" pitchFamily="34" charset="-122"/>
                <a:cs typeface="Calibri" pitchFamily="34" charset="-120"/>
              </a:rPr>
              <a:t>NexaCity + RSOC — Real-time urban intelligence for Indian smart cities.</a:t>
            </a:r>
            <a:endParaRPr lang="en-US" sz="1400" dirty="0"/>
          </a:p>
        </p:txBody>
      </p:sp>
      <p:sp>
        <p:nvSpPr>
          <p:cNvPr id="8" name="Shape 6"/>
          <p:cNvSpPr/>
          <p:nvPr/>
        </p:nvSpPr>
        <p:spPr>
          <a:xfrm>
            <a:off x="594360" y="3063240"/>
            <a:ext cx="2377440" cy="86868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9" name="Text 7"/>
          <p:cNvSpPr/>
          <p:nvPr/>
        </p:nvSpPr>
        <p:spPr>
          <a:xfrm>
            <a:off x="594360" y="3090672"/>
            <a:ext cx="2377440" cy="411480"/>
          </a:xfrm>
          <a:prstGeom prst="rect">
            <a:avLst/>
          </a:prstGeom>
          <a:noFill/>
          <a:ln/>
        </p:spPr>
        <p:txBody>
          <a:bodyPr wrap="square" lIns="0" tIns="0" rIns="0" bIns="0" rtlCol="0" anchor="ctr"/>
          <a:lstStyle/>
          <a:p>
            <a:pPr algn="ctr" indent="0" marL="0">
              <a:buNone/>
            </a:pPr>
            <a:r>
              <a:rPr lang="en-US" sz="2200" b="1" dirty="0">
                <a:solidFill>
                  <a:srgbClr val="00E5FF"/>
                </a:solidFill>
                <a:latin typeface="Arial Black" pitchFamily="34" charset="0"/>
                <a:ea typeface="Arial Black" pitchFamily="34" charset="-122"/>
                <a:cs typeface="Arial Black" pitchFamily="34" charset="-120"/>
              </a:rPr>
              <a:t>Live</a:t>
            </a:r>
            <a:endParaRPr lang="en-US" sz="2200" dirty="0"/>
          </a:p>
        </p:txBody>
      </p:sp>
      <p:sp>
        <p:nvSpPr>
          <p:cNvPr id="10" name="Text 8"/>
          <p:cNvSpPr/>
          <p:nvPr/>
        </p:nvSpPr>
        <p:spPr>
          <a:xfrm>
            <a:off x="594360" y="3493008"/>
            <a:ext cx="2377440" cy="384048"/>
          </a:xfrm>
          <a:prstGeom prst="rect">
            <a:avLst/>
          </a:prstGeom>
          <a:noFill/>
          <a:ln/>
        </p:spPr>
        <p:txBody>
          <a:bodyPr wrap="square" lIns="0" tIns="0" rIns="0" bIns="0" rtlCol="0" anchor="ctr"/>
          <a:lstStyle/>
          <a:p>
            <a:pPr algn="ctr" indent="0" marL="0">
              <a:buNone/>
            </a:pPr>
            <a:r>
              <a:rPr lang="en-US" sz="1100" dirty="0">
                <a:solidFill>
                  <a:srgbClr val="4A6480"/>
                </a:solidFill>
                <a:latin typeface="Calibri" pitchFamily="34" charset="0"/>
                <a:ea typeface="Calibri" pitchFamily="34" charset="-122"/>
                <a:cs typeface="Calibri" pitchFamily="34" charset="-120"/>
              </a:rPr>
              <a:t>Real-time data</a:t>
            </a:r>
            <a:endParaRPr lang="en-US" sz="1100" dirty="0"/>
          </a:p>
        </p:txBody>
      </p:sp>
      <p:sp>
        <p:nvSpPr>
          <p:cNvPr id="11" name="Shape 9"/>
          <p:cNvSpPr/>
          <p:nvPr/>
        </p:nvSpPr>
        <p:spPr>
          <a:xfrm>
            <a:off x="3337560" y="3063240"/>
            <a:ext cx="2377440" cy="86868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12" name="Text 10"/>
          <p:cNvSpPr/>
          <p:nvPr/>
        </p:nvSpPr>
        <p:spPr>
          <a:xfrm>
            <a:off x="3337560" y="3090672"/>
            <a:ext cx="2377440" cy="411480"/>
          </a:xfrm>
          <a:prstGeom prst="rect">
            <a:avLst/>
          </a:prstGeom>
          <a:noFill/>
          <a:ln/>
        </p:spPr>
        <p:txBody>
          <a:bodyPr wrap="square" lIns="0" tIns="0" rIns="0" bIns="0" rtlCol="0" anchor="ctr"/>
          <a:lstStyle/>
          <a:p>
            <a:pPr algn="ctr" indent="0" marL="0">
              <a:buNone/>
            </a:pPr>
            <a:r>
              <a:rPr lang="en-US" sz="2200" b="1" dirty="0">
                <a:solidFill>
                  <a:srgbClr val="00E5FF"/>
                </a:solidFill>
                <a:latin typeface="Arial Black" pitchFamily="34" charset="0"/>
                <a:ea typeface="Arial Black" pitchFamily="34" charset="-122"/>
                <a:cs typeface="Arial Black" pitchFamily="34" charset="-120"/>
              </a:rPr>
              <a:t>Smart</a:t>
            </a:r>
            <a:endParaRPr lang="en-US" sz="2200" dirty="0"/>
          </a:p>
        </p:txBody>
      </p:sp>
      <p:sp>
        <p:nvSpPr>
          <p:cNvPr id="13" name="Text 11"/>
          <p:cNvSpPr/>
          <p:nvPr/>
        </p:nvSpPr>
        <p:spPr>
          <a:xfrm>
            <a:off x="3337560" y="3493008"/>
            <a:ext cx="2377440" cy="384048"/>
          </a:xfrm>
          <a:prstGeom prst="rect">
            <a:avLst/>
          </a:prstGeom>
          <a:noFill/>
          <a:ln/>
        </p:spPr>
        <p:txBody>
          <a:bodyPr wrap="square" lIns="0" tIns="0" rIns="0" bIns="0" rtlCol="0" anchor="ctr"/>
          <a:lstStyle/>
          <a:p>
            <a:pPr algn="ctr" indent="0" marL="0">
              <a:buNone/>
            </a:pPr>
            <a:r>
              <a:rPr lang="en-US" sz="1100" dirty="0">
                <a:solidFill>
                  <a:srgbClr val="4A6480"/>
                </a:solidFill>
                <a:latin typeface="Calibri" pitchFamily="34" charset="0"/>
                <a:ea typeface="Calibri" pitchFamily="34" charset="-122"/>
                <a:cs typeface="Calibri" pitchFamily="34" charset="-120"/>
              </a:rPr>
              <a:t>AI-powered</a:t>
            </a:r>
            <a:endParaRPr lang="en-US" sz="1100" dirty="0"/>
          </a:p>
        </p:txBody>
      </p:sp>
      <p:sp>
        <p:nvSpPr>
          <p:cNvPr id="14" name="Shape 12"/>
          <p:cNvSpPr/>
          <p:nvPr/>
        </p:nvSpPr>
        <p:spPr>
          <a:xfrm>
            <a:off x="6080760" y="3063240"/>
            <a:ext cx="2377440" cy="868680"/>
          </a:xfrm>
          <a:prstGeom prst="rect">
            <a:avLst/>
          </a:prstGeom>
          <a:solidFill>
            <a:srgbClr val="111820"/>
          </a:solidFill>
          <a:ln w="12700">
            <a:solidFill>
              <a:srgbClr val="1C2D42"/>
            </a:solidFill>
            <a:prstDash val="solid"/>
          </a:ln>
          <a:effectLst>
            <a:outerShdw sx="100000" sy="100000" kx="0" ky="0" algn="bl" rotWithShape="0" blurRad="152400" dist="38100" dir="8100000">
              <a:srgbClr val="000000">
                <a:alpha val="35000"/>
              </a:srgbClr>
            </a:outerShdw>
          </a:effectLst>
        </p:spPr>
      </p:sp>
      <p:sp>
        <p:nvSpPr>
          <p:cNvPr id="15" name="Text 13"/>
          <p:cNvSpPr/>
          <p:nvPr/>
        </p:nvSpPr>
        <p:spPr>
          <a:xfrm>
            <a:off x="6080760" y="3090672"/>
            <a:ext cx="2377440" cy="411480"/>
          </a:xfrm>
          <a:prstGeom prst="rect">
            <a:avLst/>
          </a:prstGeom>
          <a:noFill/>
          <a:ln/>
        </p:spPr>
        <p:txBody>
          <a:bodyPr wrap="square" lIns="0" tIns="0" rIns="0" bIns="0" rtlCol="0" anchor="ctr"/>
          <a:lstStyle/>
          <a:p>
            <a:pPr algn="ctr" indent="0" marL="0">
              <a:buNone/>
            </a:pPr>
            <a:r>
              <a:rPr lang="en-US" sz="2200" b="1" dirty="0">
                <a:solidFill>
                  <a:srgbClr val="00E5FF"/>
                </a:solidFill>
                <a:latin typeface="Arial Black" pitchFamily="34" charset="0"/>
                <a:ea typeface="Arial Black" pitchFamily="34" charset="-122"/>
                <a:cs typeface="Arial Black" pitchFamily="34" charset="-120"/>
              </a:rPr>
              <a:t>Connected</a:t>
            </a:r>
            <a:endParaRPr lang="en-US" sz="2200" dirty="0"/>
          </a:p>
        </p:txBody>
      </p:sp>
      <p:sp>
        <p:nvSpPr>
          <p:cNvPr id="16" name="Text 14"/>
          <p:cNvSpPr/>
          <p:nvPr/>
        </p:nvSpPr>
        <p:spPr>
          <a:xfrm>
            <a:off x="6080760" y="3493008"/>
            <a:ext cx="2377440" cy="384048"/>
          </a:xfrm>
          <a:prstGeom prst="rect">
            <a:avLst/>
          </a:prstGeom>
          <a:noFill/>
          <a:ln/>
        </p:spPr>
        <p:txBody>
          <a:bodyPr wrap="square" lIns="0" tIns="0" rIns="0" bIns="0" rtlCol="0" anchor="ctr"/>
          <a:lstStyle/>
          <a:p>
            <a:pPr algn="ctr" indent="0" marL="0">
              <a:buNone/>
            </a:pPr>
            <a:r>
              <a:rPr lang="en-US" sz="1100" dirty="0">
                <a:solidFill>
                  <a:srgbClr val="4A6480"/>
                </a:solidFill>
                <a:latin typeface="Calibri" pitchFamily="34" charset="0"/>
                <a:ea typeface="Calibri" pitchFamily="34" charset="-122"/>
                <a:cs typeface="Calibri" pitchFamily="34" charset="-120"/>
              </a:rPr>
              <a:t>Web + Mobile</a:t>
            </a:r>
            <a:endParaRPr lang="en-US" sz="1100" dirty="0"/>
          </a:p>
        </p:txBody>
      </p:sp>
      <p:sp>
        <p:nvSpPr>
          <p:cNvPr id="17" name="Text 15"/>
          <p:cNvSpPr/>
          <p:nvPr/>
        </p:nvSpPr>
        <p:spPr>
          <a:xfrm>
            <a:off x="594360" y="4526280"/>
            <a:ext cx="7955280" cy="365760"/>
          </a:xfrm>
          <a:prstGeom prst="rect">
            <a:avLst/>
          </a:prstGeom>
          <a:noFill/>
          <a:ln/>
        </p:spPr>
        <p:txBody>
          <a:bodyPr wrap="square" lIns="0" tIns="0" rIns="0" bIns="0" rtlCol="0" anchor="ctr"/>
          <a:lstStyle/>
          <a:p>
            <a:pPr indent="0" marL="0">
              <a:buNone/>
            </a:pPr>
            <a:r>
              <a:rPr lang="en-US" sz="1300" i="1" dirty="0">
                <a:solidFill>
                  <a:srgbClr val="4A6480"/>
                </a:solidFill>
                <a:latin typeface="Calibri" pitchFamily="34" charset="0"/>
                <a:ea typeface="Calibri" pitchFamily="34" charset="-122"/>
                <a:cs typeface="Calibri" pitchFamily="34" charset="-120"/>
              </a:rPr>
              <a:t>Thank you  ·  Questions?</a:t>
            </a:r>
            <a:endParaRPr lang="en-US" sz="1300" dirty="0"/>
          </a:p>
        </p:txBody>
      </p:sp>
      <p:pic>
        <p:nvPicPr>
          <p:cNvPr id="18" name="Image 0" descr="preencoded.png">    </p:cNvPr>
          <p:cNvPicPr>
            <a:picLocks noChangeAspect="1"/>
          </p:cNvPicPr>
          <p:nvPr/>
        </p:nvPicPr>
        <p:blipFill>
          <a:blip r:embed="rId1"/>
          <a:stretch>
            <a:fillRect/>
          </a:stretch>
        </p:blipFill>
        <p:spPr>
          <a:xfrm>
            <a:off x="8229600" y="44348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NexaCity — Urban Intelligence Platform</dc:title>
  <dc:subject>PptxGenJS Presentation</dc:subject>
  <dc:creator>PptxGenJS</dc:creator>
  <cp:lastModifiedBy>PptxGenJS</cp:lastModifiedBy>
  <cp:revision>1</cp:revision>
  <dcterms:created xsi:type="dcterms:W3CDTF">2026-03-13T08:12:39Z</dcterms:created>
  <dcterms:modified xsi:type="dcterms:W3CDTF">2026-03-13T08:12:39Z</dcterms:modified>
</cp:coreProperties>
</file>